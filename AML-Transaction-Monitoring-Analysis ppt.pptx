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Alfa Slab One" panose="020B0604020202020204" charset="0"/>
      <p:regular r:id="rId12"/>
    </p:embeddedFont>
    <p:embeddedFont>
      <p:font typeface="Arimo" panose="020B0604020202020204" charset="0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Roboto" panose="02000000000000000000" pitchFamily="2" charset="0"/>
      <p:regular r:id="rId18"/>
    </p:embeddedFont>
    <p:embeddedFont>
      <p:font typeface="Roboto Slab" panose="020B0604020202020204" charset="0"/>
      <p:regular r:id="rId19"/>
    </p:embeddedFont>
    <p:embeddedFont>
      <p:font typeface="Roboto Slab Bol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756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7E1D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E7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r="-1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0" y="10277475"/>
            <a:ext cx="18287543" cy="9525"/>
            <a:chOff x="0" y="0"/>
            <a:chExt cx="24383390" cy="127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383364" cy="12700"/>
            </a:xfrm>
            <a:custGeom>
              <a:avLst/>
              <a:gdLst/>
              <a:ahLst/>
              <a:cxnLst/>
              <a:rect l="l" t="t" r="r" b="b"/>
              <a:pathLst>
                <a:path w="24383364" h="12700">
                  <a:moveTo>
                    <a:pt x="0" y="0"/>
                  </a:moveTo>
                  <a:lnTo>
                    <a:pt x="24383364" y="0"/>
                  </a:lnTo>
                  <a:lnTo>
                    <a:pt x="24383364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4572B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685781" y="9798396"/>
            <a:ext cx="2721407" cy="205683"/>
            <a:chOff x="0" y="0"/>
            <a:chExt cx="3628542" cy="27424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628538" cy="274240"/>
            </a:xfrm>
            <a:custGeom>
              <a:avLst/>
              <a:gdLst/>
              <a:ahLst/>
              <a:cxnLst/>
              <a:rect l="l" t="t" r="r" b="b"/>
              <a:pathLst>
                <a:path w="3628538" h="274240">
                  <a:moveTo>
                    <a:pt x="0" y="0"/>
                  </a:moveTo>
                  <a:lnTo>
                    <a:pt x="3628538" y="0"/>
                  </a:lnTo>
                  <a:lnTo>
                    <a:pt x="3628538" y="274240"/>
                  </a:lnTo>
                  <a:lnTo>
                    <a:pt x="0" y="274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7811" b="-207812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3628542" cy="2932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spc="27">
                  <a:solidFill>
                    <a:srgbClr val="66706A"/>
                  </a:solidFill>
                  <a:latin typeface="Arimo"/>
                  <a:ea typeface="Arimo"/>
                  <a:cs typeface="Arimo"/>
                  <a:sym typeface="Arimo"/>
                </a:rPr>
                <a:t>Pace is a choice.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14381" y="2868663"/>
            <a:ext cx="10667733" cy="6465684"/>
            <a:chOff x="0" y="0"/>
            <a:chExt cx="14223644" cy="862091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4223619" cy="8620887"/>
            </a:xfrm>
            <a:custGeom>
              <a:avLst/>
              <a:gdLst/>
              <a:ahLst/>
              <a:cxnLst/>
              <a:rect l="l" t="t" r="r" b="b"/>
              <a:pathLst>
                <a:path w="14223619" h="8620887">
                  <a:moveTo>
                    <a:pt x="0" y="57150"/>
                  </a:moveTo>
                  <a:cubicBezTo>
                    <a:pt x="0" y="25527"/>
                    <a:pt x="25527" y="0"/>
                    <a:pt x="57150" y="0"/>
                  </a:cubicBezTo>
                  <a:lnTo>
                    <a:pt x="14166469" y="0"/>
                  </a:lnTo>
                  <a:cubicBezTo>
                    <a:pt x="14198092" y="0"/>
                    <a:pt x="14223619" y="25527"/>
                    <a:pt x="14223619" y="57150"/>
                  </a:cubicBezTo>
                  <a:lnTo>
                    <a:pt x="14223619" y="8563737"/>
                  </a:lnTo>
                  <a:cubicBezTo>
                    <a:pt x="14223619" y="8595360"/>
                    <a:pt x="14198092" y="8620887"/>
                    <a:pt x="14166469" y="8620887"/>
                  </a:cubicBezTo>
                  <a:lnTo>
                    <a:pt x="57150" y="8620887"/>
                  </a:lnTo>
                  <a:cubicBezTo>
                    <a:pt x="25527" y="8620887"/>
                    <a:pt x="0" y="8595360"/>
                    <a:pt x="0" y="8563737"/>
                  </a:cubicBezTo>
                  <a:close/>
                </a:path>
              </a:pathLst>
            </a:custGeom>
            <a:solidFill>
              <a:srgbClr val="F7F3E7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1485862" y="3278238"/>
            <a:ext cx="10439143" cy="433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1"/>
              </a:lnSpc>
            </a:pPr>
            <a:r>
              <a:rPr lang="en-US" sz="2250" spc="157">
                <a:solidFill>
                  <a:srgbClr val="151A17"/>
                </a:solidFill>
                <a:latin typeface="Arimo"/>
                <a:ea typeface="Arimo"/>
                <a:cs typeface="Arimo"/>
                <a:sym typeface="Arimo"/>
              </a:rPr>
              <a:t>AML PORTFOLIO RISK REVIEW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85862" y="5088884"/>
            <a:ext cx="9524762" cy="1852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03"/>
              </a:lnSpc>
            </a:pPr>
            <a:r>
              <a:rPr lang="en-US" sz="7200" spc="-107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AML Transaction</a:t>
            </a:r>
          </a:p>
          <a:p>
            <a:pPr algn="l">
              <a:lnSpc>
                <a:spcPts val="7603"/>
              </a:lnSpc>
            </a:pPr>
            <a:r>
              <a:rPr lang="en-US" sz="7200" spc="-107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Monitoring Analysis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485862" y="7348690"/>
            <a:ext cx="3143174" cy="47473"/>
            <a:chOff x="0" y="0"/>
            <a:chExt cx="4190898" cy="6329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190873" cy="63246"/>
            </a:xfrm>
            <a:custGeom>
              <a:avLst/>
              <a:gdLst/>
              <a:ahLst/>
              <a:cxnLst/>
              <a:rect l="l" t="t" r="r" b="b"/>
              <a:pathLst>
                <a:path w="4190873" h="63246">
                  <a:moveTo>
                    <a:pt x="0" y="31623"/>
                  </a:moveTo>
                  <a:cubicBezTo>
                    <a:pt x="0" y="14224"/>
                    <a:pt x="14224" y="0"/>
                    <a:pt x="31623" y="0"/>
                  </a:cubicBezTo>
                  <a:lnTo>
                    <a:pt x="4159250" y="0"/>
                  </a:lnTo>
                  <a:cubicBezTo>
                    <a:pt x="4176776" y="0"/>
                    <a:pt x="4190873" y="14224"/>
                    <a:pt x="4190873" y="31623"/>
                  </a:cubicBezTo>
                  <a:cubicBezTo>
                    <a:pt x="4190873" y="49149"/>
                    <a:pt x="4176649" y="63246"/>
                    <a:pt x="4159250" y="63246"/>
                  </a:cubicBezTo>
                  <a:lnTo>
                    <a:pt x="31623" y="63246"/>
                  </a:lnTo>
                  <a:cubicBezTo>
                    <a:pt x="14224" y="63246"/>
                    <a:pt x="0" y="49149"/>
                    <a:pt x="0" y="31623"/>
                  </a:cubicBezTo>
                  <a:close/>
                </a:path>
              </a:pathLst>
            </a:custGeom>
            <a:solidFill>
              <a:srgbClr val="C4572B"/>
            </a:solidFill>
          </p:spPr>
        </p:sp>
      </p:grpSp>
      <p:sp>
        <p:nvSpPr>
          <p:cNvPr id="21" name="TextBox 21"/>
          <p:cNvSpPr txBox="1"/>
          <p:nvPr/>
        </p:nvSpPr>
        <p:spPr>
          <a:xfrm>
            <a:off x="1485862" y="7713021"/>
            <a:ext cx="10439143" cy="674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61"/>
              </a:lnSpc>
            </a:pPr>
            <a:r>
              <a:rPr lang="en-US" sz="2700" spc="54">
                <a:solidFill>
                  <a:srgbClr val="151A17"/>
                </a:solidFill>
                <a:latin typeface="Arimo"/>
                <a:ea typeface="Arimo"/>
                <a:cs typeface="Arimo"/>
                <a:sym typeface="Arimo"/>
              </a:rPr>
              <a:t>Presented by Shwetha .G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7E1D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E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685781" y="628650"/>
            <a:ext cx="17601762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3000" spc="210">
                <a:solidFill>
                  <a:srgbClr val="315B88"/>
                </a:solidFill>
                <a:latin typeface="Arimo"/>
                <a:ea typeface="Arimo"/>
                <a:cs typeface="Arimo"/>
                <a:sym typeface="Arimo"/>
              </a:rPr>
              <a:t>PORTFOLIO ANALYSIS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5781" y="1404937"/>
            <a:ext cx="16915981" cy="1387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02"/>
              </a:lnSpc>
            </a:pPr>
            <a:r>
              <a:rPr lang="en-US" sz="5400" spc="-81">
                <a:solidFill>
                  <a:srgbClr val="151A17"/>
                </a:solidFill>
                <a:latin typeface="Roboto"/>
                <a:ea typeface="Roboto"/>
                <a:cs typeface="Roboto"/>
                <a:sym typeface="Roboto"/>
              </a:rPr>
              <a:t>8.98% of transactions triggered a suspicious-activity rule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5781" y="3844528"/>
            <a:ext cx="5295767" cy="939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20"/>
              </a:lnSpc>
            </a:pPr>
            <a:r>
              <a:rPr lang="en-US" sz="10800" spc="-270">
                <a:solidFill>
                  <a:srgbClr val="151A17"/>
                </a:solidFill>
                <a:latin typeface="Alfa Slab One"/>
                <a:ea typeface="Alfa Slab One"/>
                <a:cs typeface="Alfa Slab One"/>
                <a:sym typeface="Alfa Slab One"/>
              </a:rPr>
              <a:t>50,000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5781" y="5074148"/>
            <a:ext cx="5638657" cy="330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7"/>
              </a:lnSpc>
            </a:pPr>
            <a:r>
              <a:rPr lang="en-US" sz="1650" spc="115">
                <a:solidFill>
                  <a:srgbClr val="315B88"/>
                </a:solidFill>
                <a:latin typeface="Arimo"/>
                <a:ea typeface="Arimo"/>
                <a:cs typeface="Arimo"/>
                <a:sym typeface="Arimo"/>
              </a:rPr>
              <a:t>TRANSACTIONS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5781" y="5566467"/>
            <a:ext cx="5295767" cy="849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6"/>
              </a:lnSpc>
            </a:pPr>
            <a:r>
              <a:rPr lang="en-US" sz="2250">
                <a:solidFill>
                  <a:srgbClr val="28302C"/>
                </a:solidFill>
                <a:latin typeface="Roboto Slab"/>
                <a:ea typeface="Roboto Slab"/>
                <a:cs typeface="Roboto Slab"/>
                <a:sym typeface="Roboto Slab"/>
              </a:rPr>
              <a:t>$209.8M total value across 2,000 clients.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324438" y="3130153"/>
            <a:ext cx="5638657" cy="3666830"/>
            <a:chOff x="0" y="0"/>
            <a:chExt cx="7518210" cy="488910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518273" cy="4889119"/>
            </a:xfrm>
            <a:custGeom>
              <a:avLst/>
              <a:gdLst/>
              <a:ahLst/>
              <a:cxnLst/>
              <a:rect l="l" t="t" r="r" b="b"/>
              <a:pathLst>
                <a:path w="7518273" h="4889119">
                  <a:moveTo>
                    <a:pt x="0" y="0"/>
                  </a:moveTo>
                  <a:lnTo>
                    <a:pt x="7518273" y="0"/>
                  </a:lnTo>
                  <a:lnTo>
                    <a:pt x="7518273" y="4889119"/>
                  </a:lnTo>
                  <a:lnTo>
                    <a:pt x="0" y="4889119"/>
                  </a:lnTo>
                  <a:close/>
                </a:path>
              </a:pathLst>
            </a:custGeom>
            <a:solidFill>
              <a:srgbClr val="86D2B1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6667338" y="3844528"/>
            <a:ext cx="4952876" cy="939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20"/>
              </a:lnSpc>
            </a:pPr>
            <a:r>
              <a:rPr lang="en-US" sz="10800" spc="-270">
                <a:solidFill>
                  <a:srgbClr val="000000"/>
                </a:solidFill>
                <a:latin typeface="Alfa Slab One"/>
                <a:ea typeface="Alfa Slab One"/>
                <a:cs typeface="Alfa Slab One"/>
                <a:sym typeface="Alfa Slab One"/>
              </a:rPr>
              <a:t>4,489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667338" y="5074148"/>
            <a:ext cx="5295767" cy="330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7"/>
              </a:lnSpc>
            </a:pPr>
            <a:r>
              <a:rPr lang="en-US" sz="1650" spc="11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SUSPICIOUS TRANSACTIONS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67338" y="5566467"/>
            <a:ext cx="4952876" cy="849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6"/>
              </a:lnSpc>
            </a:pPr>
            <a:r>
              <a:rPr lang="en-US" sz="225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$22.2M, or 10.6% of total transaction value.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305995" y="3844528"/>
            <a:ext cx="5295767" cy="939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20"/>
              </a:lnSpc>
            </a:pPr>
            <a:r>
              <a:rPr lang="en-US" sz="10800" spc="-270">
                <a:solidFill>
                  <a:srgbClr val="151A17"/>
                </a:solidFill>
                <a:latin typeface="Alfa Slab One"/>
                <a:ea typeface="Alfa Slab One"/>
                <a:cs typeface="Alfa Slab One"/>
                <a:sym typeface="Alfa Slab One"/>
              </a:rPr>
              <a:t>60.9%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305995" y="5074148"/>
            <a:ext cx="5295767" cy="330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7"/>
              </a:lnSpc>
            </a:pPr>
            <a:r>
              <a:rPr lang="en-US" sz="1650" spc="115">
                <a:solidFill>
                  <a:srgbClr val="315B88"/>
                </a:solidFill>
                <a:latin typeface="Arimo"/>
                <a:ea typeface="Arimo"/>
                <a:cs typeface="Arimo"/>
                <a:sym typeface="Arimo"/>
              </a:rPr>
              <a:t>HIGH-RISK RATE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305995" y="5566467"/>
            <a:ext cx="5295767" cy="849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6"/>
              </a:lnSpc>
            </a:pPr>
            <a:r>
              <a:rPr lang="en-US" sz="2250">
                <a:solidFill>
                  <a:srgbClr val="28302C"/>
                </a:solidFill>
                <a:latin typeface="Roboto Slab"/>
                <a:ea typeface="Roboto Slab"/>
                <a:cs typeface="Roboto Slab"/>
                <a:sym typeface="Roboto Slab"/>
              </a:rPr>
              <a:t>1218 High risk clients with 78.2% of transactions value..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85781" y="7225608"/>
            <a:ext cx="16633955" cy="590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35"/>
              </a:lnSpc>
            </a:pPr>
            <a:r>
              <a:rPr lang="en-US" sz="2850">
                <a:solidFill>
                  <a:srgbClr val="28302C"/>
                </a:solidFill>
                <a:latin typeface="Roboto"/>
                <a:ea typeface="Roboto"/>
                <a:cs typeface="Roboto"/>
                <a:sym typeface="Roboto"/>
              </a:rPr>
              <a:t>Monitoring risk is material, but concentrated enough to support risk-based prioritization.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6314913" y="3130153"/>
            <a:ext cx="19050" cy="3666830"/>
            <a:chOff x="0" y="0"/>
            <a:chExt cx="25400" cy="488910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5400" cy="4889119"/>
            </a:xfrm>
            <a:custGeom>
              <a:avLst/>
              <a:gdLst/>
              <a:ahLst/>
              <a:cxnLst/>
              <a:rect l="l" t="t" r="r" b="b"/>
              <a:pathLst>
                <a:path w="25400" h="4889119">
                  <a:moveTo>
                    <a:pt x="0" y="0"/>
                  </a:moveTo>
                  <a:lnTo>
                    <a:pt x="25400" y="0"/>
                  </a:lnTo>
                  <a:lnTo>
                    <a:pt x="25400" y="4889119"/>
                  </a:lnTo>
                  <a:lnTo>
                    <a:pt x="0" y="4889119"/>
                  </a:lnTo>
                  <a:close/>
                </a:path>
              </a:pathLst>
            </a:custGeom>
            <a:solidFill>
              <a:srgbClr val="315B88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11953580" y="3130153"/>
            <a:ext cx="19050" cy="3666830"/>
            <a:chOff x="0" y="0"/>
            <a:chExt cx="25400" cy="488910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5400" cy="4889119"/>
            </a:xfrm>
            <a:custGeom>
              <a:avLst/>
              <a:gdLst/>
              <a:ahLst/>
              <a:cxnLst/>
              <a:rect l="l" t="t" r="r" b="b"/>
              <a:pathLst>
                <a:path w="25400" h="4889119">
                  <a:moveTo>
                    <a:pt x="0" y="0"/>
                  </a:moveTo>
                  <a:lnTo>
                    <a:pt x="25400" y="0"/>
                  </a:lnTo>
                  <a:lnTo>
                    <a:pt x="25400" y="4889119"/>
                  </a:lnTo>
                  <a:lnTo>
                    <a:pt x="0" y="4889119"/>
                  </a:lnTo>
                  <a:close/>
                </a:path>
              </a:pathLst>
            </a:custGeom>
            <a:solidFill>
              <a:srgbClr val="315B88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0" y="10277475"/>
            <a:ext cx="18287543" cy="9525"/>
            <a:chOff x="0" y="0"/>
            <a:chExt cx="24383390" cy="127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4383364" cy="12700"/>
            </a:xfrm>
            <a:custGeom>
              <a:avLst/>
              <a:gdLst/>
              <a:ahLst/>
              <a:cxnLst/>
              <a:rect l="l" t="t" r="r" b="b"/>
              <a:pathLst>
                <a:path w="24383364" h="12700">
                  <a:moveTo>
                    <a:pt x="0" y="0"/>
                  </a:moveTo>
                  <a:lnTo>
                    <a:pt x="24383364" y="0"/>
                  </a:lnTo>
                  <a:lnTo>
                    <a:pt x="24383364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4572B"/>
            </a:solidFill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7E1D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E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685781" y="628650"/>
            <a:ext cx="17601762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3000" spc="210">
                <a:solidFill>
                  <a:srgbClr val="315B88"/>
                </a:solidFill>
                <a:latin typeface="Arimo"/>
                <a:ea typeface="Arimo"/>
                <a:cs typeface="Arimo"/>
                <a:sym typeface="Arimo"/>
              </a:rPr>
              <a:t>CLIENT RISK SEGMENTATION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5781" y="1404937"/>
            <a:ext cx="16915981" cy="1387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02"/>
              </a:lnSpc>
            </a:pPr>
            <a:r>
              <a:rPr lang="en-US" sz="5400" spc="-81">
                <a:solidFill>
                  <a:srgbClr val="151A17"/>
                </a:solidFill>
                <a:latin typeface="Roboto"/>
                <a:ea typeface="Roboto"/>
                <a:cs typeface="Roboto"/>
                <a:sym typeface="Roboto"/>
              </a:rPr>
              <a:t>High-risk clients carry most of the book and the highest alert rate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685781" y="3130153"/>
            <a:ext cx="8800881" cy="4381500"/>
            <a:chOff x="0" y="0"/>
            <a:chExt cx="11734508" cy="5842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11734546" cy="5842000"/>
            </a:xfrm>
            <a:custGeom>
              <a:avLst/>
              <a:gdLst/>
              <a:ahLst/>
              <a:cxnLst/>
              <a:rect l="l" t="t" r="r" b="b"/>
              <a:pathLst>
                <a:path w="11734546" h="5842000">
                  <a:moveTo>
                    <a:pt x="0" y="0"/>
                  </a:moveTo>
                  <a:lnTo>
                    <a:pt x="11734546" y="0"/>
                  </a:lnTo>
                  <a:lnTo>
                    <a:pt x="11734546" y="5842000"/>
                  </a:lnTo>
                  <a:lnTo>
                    <a:pt x="0" y="584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53" b="-53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0195217" y="3891858"/>
            <a:ext cx="2357676" cy="381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4"/>
              </a:lnSpc>
            </a:pPr>
            <a:r>
              <a:rPr lang="en-US" sz="1950" spc="136">
                <a:solidFill>
                  <a:srgbClr val="315B88"/>
                </a:solidFill>
                <a:latin typeface="Arimo"/>
                <a:ea typeface="Arimo"/>
                <a:cs typeface="Arimo"/>
                <a:sym typeface="Arimo"/>
              </a:rPr>
              <a:t>HIGH RISK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195217" y="4435678"/>
            <a:ext cx="2014785" cy="2266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6"/>
              </a:lnSpc>
            </a:pPr>
            <a:r>
              <a:rPr lang="en-US" sz="2250" b="1">
                <a:solidFill>
                  <a:srgbClr val="2830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1,218 clients</a:t>
            </a:r>
            <a:r>
              <a:rPr lang="en-US" sz="2250">
                <a:solidFill>
                  <a:srgbClr val="28302C"/>
                </a:solidFill>
                <a:latin typeface="Roboto Slab"/>
                <a:ea typeface="Roboto Slab"/>
                <a:cs typeface="Roboto Slab"/>
                <a:sym typeface="Roboto Slab"/>
              </a:rPr>
              <a:t> · $159.7M value </a:t>
            </a:r>
          </a:p>
          <a:p>
            <a:pPr algn="l">
              <a:lnSpc>
                <a:spcPts val="3186"/>
              </a:lnSpc>
            </a:pPr>
            <a:r>
              <a:rPr lang="en-US" sz="2250">
                <a:solidFill>
                  <a:srgbClr val="28302C"/>
                </a:solidFill>
                <a:latin typeface="Roboto Slab"/>
                <a:ea typeface="Roboto Slab"/>
                <a:cs typeface="Roboto Slab"/>
                <a:sym typeface="Roboto Slab"/>
              </a:rPr>
              <a:t> 11.60% suspicious rate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895783" y="3891858"/>
            <a:ext cx="2237127" cy="381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1950" spc="115">
                <a:solidFill>
                  <a:srgbClr val="315B88"/>
                </a:solidFill>
                <a:latin typeface="Arimo"/>
                <a:ea typeface="Arimo"/>
                <a:cs typeface="Arimo"/>
                <a:sym typeface="Arimo"/>
              </a:rPr>
              <a:t>MEDIUM RISK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895783" y="4435678"/>
            <a:ext cx="1894237" cy="2266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6"/>
              </a:lnSpc>
            </a:pPr>
            <a:r>
              <a:rPr lang="en-US" sz="2250">
                <a:solidFill>
                  <a:srgbClr val="28302C"/>
                </a:solidFill>
                <a:latin typeface="Roboto Slab"/>
                <a:ea typeface="Roboto Slab"/>
                <a:cs typeface="Roboto Slab"/>
                <a:sym typeface="Roboto Slab"/>
              </a:rPr>
              <a:t>634 clients · $43.9M value</a:t>
            </a:r>
          </a:p>
          <a:p>
            <a:pPr algn="l">
              <a:lnSpc>
                <a:spcPts val="3186"/>
              </a:lnSpc>
            </a:pPr>
            <a:r>
              <a:rPr lang="en-US" sz="2250">
                <a:solidFill>
                  <a:srgbClr val="28302C"/>
                </a:solidFill>
                <a:latin typeface="Roboto Slab"/>
                <a:ea typeface="Roboto Slab"/>
                <a:cs typeface="Roboto Slab"/>
                <a:sym typeface="Roboto Slab"/>
              </a:rPr>
              <a:t>4.99% suspicious rate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475801" y="3891858"/>
            <a:ext cx="2125951" cy="381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4"/>
              </a:lnSpc>
            </a:pPr>
            <a:r>
              <a:rPr lang="en-US" sz="1950" spc="136">
                <a:solidFill>
                  <a:srgbClr val="315B88"/>
                </a:solidFill>
                <a:latin typeface="Arimo"/>
                <a:ea typeface="Arimo"/>
                <a:cs typeface="Arimo"/>
                <a:sym typeface="Arimo"/>
              </a:rPr>
              <a:t>LOW RISK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475801" y="4435678"/>
            <a:ext cx="2125951" cy="2266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6"/>
              </a:lnSpc>
            </a:pPr>
            <a:r>
              <a:rPr lang="en-US" sz="2250">
                <a:solidFill>
                  <a:srgbClr val="28302C"/>
                </a:solidFill>
                <a:latin typeface="Roboto Slab"/>
                <a:ea typeface="Roboto Slab"/>
                <a:cs typeface="Roboto Slab"/>
                <a:sym typeface="Roboto Slab"/>
              </a:rPr>
              <a:t>148 clients · $6.2M value</a:t>
            </a:r>
          </a:p>
          <a:p>
            <a:pPr algn="l">
              <a:lnSpc>
                <a:spcPts val="3186"/>
              </a:lnSpc>
            </a:pPr>
            <a:r>
              <a:rPr lang="en-US" sz="2250">
                <a:solidFill>
                  <a:srgbClr val="28302C"/>
                </a:solidFill>
                <a:latin typeface="Roboto Slab"/>
                <a:ea typeface="Roboto Slab"/>
                <a:cs typeface="Roboto Slab"/>
                <a:sym typeface="Roboto Slab"/>
              </a:rPr>
              <a:t>1.53% suspicious   rate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85781" y="7740253"/>
            <a:ext cx="16915981" cy="1104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35"/>
              </a:lnSpc>
            </a:pPr>
            <a:r>
              <a:rPr lang="en-US" sz="2850">
                <a:solidFill>
                  <a:srgbClr val="28302C"/>
                </a:solidFill>
                <a:latin typeface="Roboto"/>
                <a:ea typeface="Roboto"/>
                <a:cs typeface="Roboto"/>
                <a:sym typeface="Roboto"/>
              </a:rPr>
              <a:t>The step-down from High to Medium to Low suggests the composite rating is directionally aligned with observed activity.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2543368" y="3939483"/>
            <a:ext cx="19050" cy="2762850"/>
            <a:chOff x="0" y="0"/>
            <a:chExt cx="25400" cy="3683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5400" cy="3683762"/>
            </a:xfrm>
            <a:custGeom>
              <a:avLst/>
              <a:gdLst/>
              <a:ahLst/>
              <a:cxnLst/>
              <a:rect l="l" t="t" r="r" b="b"/>
              <a:pathLst>
                <a:path w="25400" h="3683762">
                  <a:moveTo>
                    <a:pt x="0" y="0"/>
                  </a:moveTo>
                  <a:lnTo>
                    <a:pt x="25400" y="0"/>
                  </a:lnTo>
                  <a:lnTo>
                    <a:pt x="25400" y="3683762"/>
                  </a:lnTo>
                  <a:lnTo>
                    <a:pt x="0" y="3683762"/>
                  </a:lnTo>
                  <a:close/>
                </a:path>
              </a:pathLst>
            </a:custGeom>
            <a:solidFill>
              <a:srgbClr val="315B88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15123385" y="3939483"/>
            <a:ext cx="19050" cy="2762850"/>
            <a:chOff x="0" y="0"/>
            <a:chExt cx="25400" cy="3683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5400" cy="3683762"/>
            </a:xfrm>
            <a:custGeom>
              <a:avLst/>
              <a:gdLst/>
              <a:ahLst/>
              <a:cxnLst/>
              <a:rect l="l" t="t" r="r" b="b"/>
              <a:pathLst>
                <a:path w="25400" h="3683762">
                  <a:moveTo>
                    <a:pt x="0" y="0"/>
                  </a:moveTo>
                  <a:lnTo>
                    <a:pt x="25400" y="0"/>
                  </a:lnTo>
                  <a:lnTo>
                    <a:pt x="25400" y="3683762"/>
                  </a:lnTo>
                  <a:lnTo>
                    <a:pt x="0" y="3683762"/>
                  </a:lnTo>
                  <a:close/>
                </a:path>
              </a:pathLst>
            </a:custGeom>
            <a:solidFill>
              <a:srgbClr val="315B88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0" y="10277475"/>
            <a:ext cx="18287543" cy="9525"/>
            <a:chOff x="0" y="0"/>
            <a:chExt cx="24383390" cy="127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4383364" cy="12700"/>
            </a:xfrm>
            <a:custGeom>
              <a:avLst/>
              <a:gdLst/>
              <a:ahLst/>
              <a:cxnLst/>
              <a:rect l="l" t="t" r="r" b="b"/>
              <a:pathLst>
                <a:path w="24383364" h="12700">
                  <a:moveTo>
                    <a:pt x="0" y="0"/>
                  </a:moveTo>
                  <a:lnTo>
                    <a:pt x="24383364" y="0"/>
                  </a:lnTo>
                  <a:lnTo>
                    <a:pt x="24383364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4572B"/>
            </a:solid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7E1D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E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685781" y="628650"/>
            <a:ext cx="17601762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3000" spc="210">
                <a:solidFill>
                  <a:srgbClr val="315B88"/>
                </a:solidFill>
                <a:latin typeface="Arimo"/>
                <a:ea typeface="Arimo"/>
                <a:cs typeface="Arimo"/>
                <a:sym typeface="Arimo"/>
              </a:rPr>
              <a:t>STATIC RISK INDICATORS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5781" y="1404937"/>
            <a:ext cx="16915981" cy="1387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02"/>
              </a:lnSpc>
            </a:pPr>
            <a:r>
              <a:rPr lang="en-US" sz="5400" spc="-81">
                <a:solidFill>
                  <a:srgbClr val="151A17"/>
                </a:solidFill>
                <a:latin typeface="Roboto"/>
                <a:ea typeface="Roboto"/>
                <a:cs typeface="Roboto"/>
                <a:sym typeface="Roboto"/>
              </a:rPr>
              <a:t>Static risk stacks around sanctions, country exposure, and opaque ownership</a:t>
            </a:r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685782" y="3130154"/>
          <a:ext cx="7620000" cy="640080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50001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151A17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Indicator</a:t>
                      </a:r>
                      <a:endParaRPr lang="en-US" sz="1100"/>
                    </a:p>
                  </a:txBody>
                  <a:tcPr marL="142871" marR="142871" marT="142871" marB="142871" anchor="ctr">
                    <a:lnL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151A17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Flagged clients</a:t>
                      </a:r>
                      <a:endParaRPr lang="en-US" sz="1100"/>
                    </a:p>
                  </a:txBody>
                  <a:tcPr marL="142871" marR="142871" marT="142871" marB="142871" anchor="ctr">
                    <a:lnL w="12700" cap="flat" cmpd="sng" algn="ctr">
                      <a:solidFill>
                        <a:srgbClr val="F7F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151A17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Rate of client base</a:t>
                      </a:r>
                      <a:endParaRPr lang="en-US" sz="1100"/>
                    </a:p>
                  </a:txBody>
                  <a:tcPr marL="142871" marR="142871" marT="142871" marB="142871" anchor="ctr">
                    <a:lnL w="12700" cap="flat" cmpd="sng" algn="ctr">
                      <a:solidFill>
                        <a:srgbClr val="F7F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42871" marR="142871" marT="142871" marB="142871" anchor="ctr">
                    <a:lnL w="12700" cap="flat" cmpd="sng" algn="ctr">
                      <a:solidFill>
                        <a:srgbClr val="F7F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0001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28302C"/>
                          </a:solidFill>
                          <a:latin typeface="Roboto Slab Bold"/>
                          <a:ea typeface="Roboto Slab Bold"/>
                          <a:cs typeface="Roboto Slab Bold"/>
                          <a:sym typeface="Roboto Slab Bold"/>
                        </a:rPr>
                        <a:t>OFAC country</a:t>
                      </a:r>
                      <a:endParaRPr lang="en-US" sz="1100"/>
                    </a:p>
                  </a:txBody>
                  <a:tcPr marL="142871" marR="142871" marT="142871" marB="142871" anchor="ctr">
                    <a:lnL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28302C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601</a:t>
                      </a:r>
                      <a:endParaRPr lang="en-US" sz="1100"/>
                    </a:p>
                  </a:txBody>
                  <a:tcPr marL="142871" marR="142871" marT="142871" marB="142871" anchor="ctr">
                    <a:lnL w="12700" cap="flat" cmpd="sng" algn="ctr">
                      <a:solidFill>
                        <a:srgbClr val="F7F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28302C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30.05%</a:t>
                      </a:r>
                      <a:endParaRPr lang="en-US" sz="1100"/>
                    </a:p>
                  </a:txBody>
                  <a:tcPr marL="142871" marR="142871" marT="142871" marB="142871" anchor="ctr">
                    <a:lnL w="12700" cap="flat" cmpd="sng" algn="ctr">
                      <a:solidFill>
                        <a:srgbClr val="F7F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42871" marR="142871" marT="142871" marB="142871" anchor="ctr">
                    <a:lnL w="12700" cap="flat" cmpd="sng" algn="ctr">
                      <a:solidFill>
                        <a:srgbClr val="F7F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9209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28302C"/>
                          </a:solidFill>
                          <a:latin typeface="Roboto Slab Bold"/>
                          <a:ea typeface="Roboto Slab Bold"/>
                          <a:cs typeface="Roboto Slab Bold"/>
                          <a:sym typeface="Roboto Slab Bold"/>
                        </a:rPr>
                        <a:t>Sectoral sanctions</a:t>
                      </a:r>
                      <a:endParaRPr lang="en-US" sz="1100"/>
                    </a:p>
                  </a:txBody>
                  <a:tcPr marL="142871" marR="142871" marT="142871" marB="142871" anchor="ctr">
                    <a:lnL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28302C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575</a:t>
                      </a:r>
                      <a:endParaRPr lang="en-US" sz="1100"/>
                    </a:p>
                  </a:txBody>
                  <a:tcPr marL="142871" marR="142871" marT="142871" marB="142871" anchor="ctr">
                    <a:lnL w="12700" cap="flat" cmpd="sng" algn="ctr">
                      <a:solidFill>
                        <a:srgbClr val="F7F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28302C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28.75%</a:t>
                      </a:r>
                      <a:endParaRPr lang="en-US" sz="1100"/>
                    </a:p>
                  </a:txBody>
                  <a:tcPr marL="142871" marR="142871" marT="142871" marB="142871" anchor="ctr">
                    <a:lnL w="12700" cap="flat" cmpd="sng" algn="ctr">
                      <a:solidFill>
                        <a:srgbClr val="F7F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42871" marR="142871" marT="142871" marB="142871" anchor="ctr">
                    <a:lnL w="12700" cap="flat" cmpd="sng" algn="ctr">
                      <a:solidFill>
                        <a:srgbClr val="F7F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0001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28302C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FATF country</a:t>
                      </a:r>
                      <a:endParaRPr lang="en-US" sz="1100"/>
                    </a:p>
                  </a:txBody>
                  <a:tcPr marL="142871" marR="142871" marT="142871" marB="142871" anchor="ctr">
                    <a:lnL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28302C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179</a:t>
                      </a:r>
                      <a:endParaRPr lang="en-US" sz="1100"/>
                    </a:p>
                  </a:txBody>
                  <a:tcPr marL="142871" marR="142871" marT="142871" marB="142871" anchor="ctr">
                    <a:lnL w="12700" cap="flat" cmpd="sng" algn="ctr">
                      <a:solidFill>
                        <a:srgbClr val="F7F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28302C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8.95%</a:t>
                      </a:r>
                      <a:endParaRPr lang="en-US" sz="1100"/>
                    </a:p>
                  </a:txBody>
                  <a:tcPr marL="142871" marR="142871" marT="142871" marB="142871" anchor="ctr">
                    <a:lnL w="12700" cap="flat" cmpd="sng" algn="ctr">
                      <a:solidFill>
                        <a:srgbClr val="F7F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42871" marR="142871" marT="142871" marB="142871" anchor="ctr">
                    <a:lnL w="12700" cap="flat" cmpd="sng" algn="ctr">
                      <a:solidFill>
                        <a:srgbClr val="F7F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99209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28302C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Ownership opacity</a:t>
                      </a:r>
                      <a:endParaRPr lang="en-US" sz="1100"/>
                    </a:p>
                  </a:txBody>
                  <a:tcPr marL="142871" marR="142871" marT="142871" marB="142871" anchor="ctr">
                    <a:lnL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28302C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120</a:t>
                      </a:r>
                      <a:endParaRPr lang="en-US" sz="1100"/>
                    </a:p>
                  </a:txBody>
                  <a:tcPr marL="142871" marR="142871" marT="142871" marB="142871" anchor="ctr">
                    <a:lnL w="12700" cap="flat" cmpd="sng" algn="ctr">
                      <a:solidFill>
                        <a:srgbClr val="F7F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28302C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6.00%</a:t>
                      </a:r>
                      <a:endParaRPr lang="en-US" sz="1100"/>
                    </a:p>
                  </a:txBody>
                  <a:tcPr marL="142871" marR="142871" marT="142871" marB="142871" anchor="ctr">
                    <a:lnL w="12700" cap="flat" cmpd="sng" algn="ctr">
                      <a:solidFill>
                        <a:srgbClr val="F7F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42871" marR="142871" marT="142871" marB="142871" anchor="ctr">
                    <a:lnL w="12700" cap="flat" cmpd="sng" algn="ctr">
                      <a:solidFill>
                        <a:srgbClr val="F7F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1587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28302C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PEP</a:t>
                      </a:r>
                      <a:endParaRPr lang="en-US" sz="1100"/>
                    </a:p>
                  </a:txBody>
                  <a:tcPr marL="142871" marR="142871" marT="142871" marB="142871" anchor="ctr">
                    <a:lnL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28302C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114</a:t>
                      </a:r>
                      <a:endParaRPr lang="en-US" sz="1100"/>
                    </a:p>
                  </a:txBody>
                  <a:tcPr marL="142871" marR="142871" marT="142871" marB="142871" anchor="ctr">
                    <a:lnL w="12700" cap="flat" cmpd="sng" algn="ctr">
                      <a:solidFill>
                        <a:srgbClr val="F7F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28302C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5.70%</a:t>
                      </a:r>
                      <a:endParaRPr lang="en-US" sz="1100"/>
                    </a:p>
                  </a:txBody>
                  <a:tcPr marL="142871" marR="142871" marT="142871" marB="142871" anchor="ctr">
                    <a:lnL w="12700" cap="flat" cmpd="sng" algn="ctr">
                      <a:solidFill>
                        <a:srgbClr val="F7F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42871" marR="142871" marT="142871" marB="142871" anchor="ctr">
                    <a:lnL w="12700" cap="flat" cmpd="sng" algn="ctr">
                      <a:solidFill>
                        <a:srgbClr val="F7F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0793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28302C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Sanctions</a:t>
                      </a:r>
                      <a:endParaRPr lang="en-US" sz="1100"/>
                    </a:p>
                  </a:txBody>
                  <a:tcPr marL="142871" marR="142871" marT="142871" marB="142871" anchor="ctr">
                    <a:lnL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28302C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55</a:t>
                      </a:r>
                      <a:endParaRPr lang="en-US" sz="1100"/>
                    </a:p>
                  </a:txBody>
                  <a:tcPr marL="142871" marR="142871" marT="142871" marB="142871" anchor="ctr">
                    <a:lnL w="12700" cap="flat" cmpd="sng" algn="ctr">
                      <a:solidFill>
                        <a:srgbClr val="F7F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28302C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2.75%</a:t>
                      </a:r>
                      <a:endParaRPr lang="en-US" sz="1100"/>
                    </a:p>
                  </a:txBody>
                  <a:tcPr marL="142871" marR="142871" marT="142871" marB="142871" anchor="ctr">
                    <a:lnL w="12700" cap="flat" cmpd="sng" algn="ctr">
                      <a:solidFill>
                        <a:srgbClr val="F7F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42871" marR="142871" marT="142871" marB="142871" anchor="ctr">
                    <a:lnL w="12700" cap="flat" cmpd="sng" algn="ctr">
                      <a:solidFill>
                        <a:srgbClr val="F7F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Box 9"/>
          <p:cNvSpPr txBox="1"/>
          <p:nvPr/>
        </p:nvSpPr>
        <p:spPr>
          <a:xfrm>
            <a:off x="11292354" y="3431972"/>
            <a:ext cx="6309408" cy="381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4"/>
              </a:lnSpc>
            </a:pPr>
            <a:r>
              <a:rPr lang="en-US" sz="1950" spc="136">
                <a:solidFill>
                  <a:srgbClr val="315B88"/>
                </a:solidFill>
                <a:latin typeface="Arimo"/>
                <a:ea typeface="Arimo"/>
                <a:cs typeface="Arimo"/>
                <a:sym typeface="Arimo"/>
              </a:rPr>
              <a:t>PRIORITY LENS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292354" y="3980555"/>
            <a:ext cx="6309408" cy="1060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05"/>
              </a:lnSpc>
            </a:pPr>
            <a:r>
              <a:rPr lang="en-US" sz="3900" spc="-58">
                <a:solidFill>
                  <a:srgbClr val="151A17"/>
                </a:solidFill>
                <a:latin typeface="Roboto"/>
                <a:ea typeface="Roboto"/>
                <a:cs typeface="Roboto"/>
                <a:sym typeface="Roboto"/>
              </a:rPr>
              <a:t>Stacked flags deserve the first review pass.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92354" y="5246189"/>
            <a:ext cx="6309408" cy="3278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6"/>
              </a:lnSpc>
            </a:pPr>
            <a:r>
              <a:rPr lang="en-US" sz="2250">
                <a:solidFill>
                  <a:srgbClr val="28302C"/>
                </a:solidFill>
                <a:latin typeface="Roboto Slab"/>
                <a:ea typeface="Roboto Slab"/>
                <a:cs typeface="Roboto Slab"/>
                <a:sym typeface="Roboto Slab"/>
              </a:rPr>
              <a:t>Energy/Oil and Defence/Arms recur among clients with four or more static indicators.</a:t>
            </a:r>
          </a:p>
          <a:p>
            <a:pPr algn="l">
              <a:lnSpc>
                <a:spcPts val="3186"/>
              </a:lnSpc>
            </a:pPr>
            <a:r>
              <a:rPr lang="en-US" sz="2250">
                <a:solidFill>
                  <a:srgbClr val="28302C"/>
                </a:solidFill>
                <a:latin typeface="Roboto Slab"/>
                <a:ea typeface="Roboto Slab"/>
                <a:cs typeface="Roboto Slab"/>
                <a:sym typeface="Roboto Slab"/>
              </a:rPr>
              <a:t>Validate beneficial ownership and sanctions exposure before escalation.</a:t>
            </a:r>
          </a:p>
          <a:p>
            <a:pPr algn="l">
              <a:lnSpc>
                <a:spcPts val="3186"/>
              </a:lnSpc>
            </a:pPr>
            <a:r>
              <a:rPr lang="en-US" sz="2250" b="1">
                <a:solidFill>
                  <a:srgbClr val="2830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PEP signal:</a:t>
            </a:r>
            <a:r>
              <a:rPr lang="en-US" sz="2250">
                <a:solidFill>
                  <a:srgbClr val="28302C"/>
                </a:solidFill>
                <a:latin typeface="Roboto Slab"/>
                <a:ea typeface="Roboto Slab"/>
                <a:cs typeface="Roboto Slab"/>
                <a:sym typeface="Roboto Slab"/>
              </a:rPr>
              <a:t> $6,365 average transaction versus $4,063 for non-PEPs; suspicious rates of 10.81% versus 8.87%.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74200" y="10277475"/>
            <a:ext cx="18287543" cy="9525"/>
            <a:chOff x="0" y="0"/>
            <a:chExt cx="24383390" cy="127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4383364" cy="12700"/>
            </a:xfrm>
            <a:custGeom>
              <a:avLst/>
              <a:gdLst/>
              <a:ahLst/>
              <a:cxnLst/>
              <a:rect l="l" t="t" r="r" b="b"/>
              <a:pathLst>
                <a:path w="24383364" h="12700">
                  <a:moveTo>
                    <a:pt x="0" y="0"/>
                  </a:moveTo>
                  <a:lnTo>
                    <a:pt x="24383364" y="0"/>
                  </a:lnTo>
                  <a:lnTo>
                    <a:pt x="24383364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4572B"/>
            </a:solid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7E1D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E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685781" y="628650"/>
            <a:ext cx="17601762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3000" spc="210">
                <a:solidFill>
                  <a:srgbClr val="315B88"/>
                </a:solidFill>
                <a:latin typeface="Arimo"/>
                <a:ea typeface="Arimo"/>
                <a:cs typeface="Arimo"/>
                <a:sym typeface="Arimo"/>
              </a:rPr>
              <a:t>SECTOR ANALYSIS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5781" y="1404937"/>
            <a:ext cx="16915981" cy="1387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02"/>
              </a:lnSpc>
            </a:pPr>
            <a:r>
              <a:rPr lang="en-US" sz="5400" spc="-81">
                <a:solidFill>
                  <a:srgbClr val="151A17"/>
                </a:solidFill>
                <a:latin typeface="Roboto"/>
                <a:ea typeface="Roboto"/>
                <a:cs typeface="Roboto"/>
                <a:sym typeface="Roboto"/>
              </a:rPr>
              <a:t>Energy/Oil and Defence/Arms lead sector risk, while Tech is a quiet outlier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685781" y="3130153"/>
            <a:ext cx="8667531" cy="5298729"/>
            <a:chOff x="0" y="0"/>
            <a:chExt cx="11556708" cy="7064972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11556746" cy="7065010"/>
            </a:xfrm>
            <a:custGeom>
              <a:avLst/>
              <a:gdLst/>
              <a:ahLst/>
              <a:cxnLst/>
              <a:rect l="l" t="t" r="r" b="b"/>
              <a:pathLst>
                <a:path w="11556746" h="7065010">
                  <a:moveTo>
                    <a:pt x="0" y="0"/>
                  </a:moveTo>
                  <a:lnTo>
                    <a:pt x="11556746" y="0"/>
                  </a:lnTo>
                  <a:lnTo>
                    <a:pt x="11556746" y="7065010"/>
                  </a:lnTo>
                  <a:lnTo>
                    <a:pt x="0" y="7065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" r="-10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0085384" y="3417094"/>
            <a:ext cx="7516378" cy="433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1"/>
              </a:lnSpc>
            </a:pPr>
            <a:r>
              <a:rPr lang="en-US" sz="2250" spc="157">
                <a:solidFill>
                  <a:srgbClr val="315B88"/>
                </a:solidFill>
                <a:latin typeface="Arimo"/>
                <a:ea typeface="Arimo"/>
                <a:cs typeface="Arimo"/>
                <a:sym typeface="Arimo"/>
              </a:rPr>
              <a:t>IMPORTANT HIGHLIGHT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085384" y="4017169"/>
            <a:ext cx="7516378" cy="1605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05"/>
              </a:lnSpc>
            </a:pPr>
            <a:r>
              <a:rPr lang="en-US" sz="3900" spc="-58">
                <a:solidFill>
                  <a:srgbClr val="151A17"/>
                </a:solidFill>
                <a:latin typeface="Roboto"/>
                <a:ea typeface="Roboto"/>
                <a:cs typeface="Roboto"/>
                <a:sym typeface="Roboto"/>
              </a:rPr>
              <a:t>Tech is Low risk by classification, but not quiet in observed alerts.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085384" y="5827509"/>
            <a:ext cx="7516378" cy="2266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6"/>
              </a:lnSpc>
            </a:pPr>
            <a:r>
              <a:rPr lang="en-US" sz="2250">
                <a:solidFill>
                  <a:srgbClr val="28302C"/>
                </a:solidFill>
                <a:latin typeface="Roboto Slab"/>
                <a:ea typeface="Roboto Slab"/>
                <a:cs typeface="Roboto Slab"/>
                <a:sym typeface="Roboto Slab"/>
              </a:rPr>
              <a:t>Rapid movement leads every sector. Energy/Oil and Defense/Arms also lead in absolute OFAC and FATF activity.</a:t>
            </a:r>
          </a:p>
          <a:p>
            <a:pPr algn="l">
              <a:lnSpc>
                <a:spcPts val="3186"/>
              </a:lnSpc>
            </a:pPr>
            <a:r>
              <a:rPr lang="en-US" sz="2250">
                <a:solidFill>
                  <a:srgbClr val="28302C"/>
                </a:solidFill>
                <a:latin typeface="Roboto Slab"/>
                <a:ea typeface="Roboto Slab"/>
                <a:cs typeface="Roboto Slab"/>
                <a:sym typeface="Roboto Slab"/>
              </a:rPr>
              <a:t>Review Tech for sanctions-driven exposure rather than screening it out by baseline label.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0" y="10277475"/>
            <a:ext cx="18287543" cy="9525"/>
            <a:chOff x="0" y="0"/>
            <a:chExt cx="24383390" cy="127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4383364" cy="12700"/>
            </a:xfrm>
            <a:custGeom>
              <a:avLst/>
              <a:gdLst/>
              <a:ahLst/>
              <a:cxnLst/>
              <a:rect l="l" t="t" r="r" b="b"/>
              <a:pathLst>
                <a:path w="24383364" h="12700">
                  <a:moveTo>
                    <a:pt x="0" y="0"/>
                  </a:moveTo>
                  <a:lnTo>
                    <a:pt x="24383364" y="0"/>
                  </a:lnTo>
                  <a:lnTo>
                    <a:pt x="24383364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4572B"/>
            </a:solidFill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7E1D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E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685781" y="628650"/>
            <a:ext cx="17601762" cy="574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8"/>
              </a:lnSpc>
            </a:pPr>
            <a:r>
              <a:rPr lang="en-US" sz="3000" spc="189">
                <a:solidFill>
                  <a:srgbClr val="315B88"/>
                </a:solidFill>
                <a:latin typeface="Arimo"/>
                <a:ea typeface="Arimo"/>
                <a:cs typeface="Arimo"/>
                <a:sym typeface="Arimo"/>
              </a:rPr>
              <a:t>COUNTRY ANALYSIS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5781" y="1407766"/>
            <a:ext cx="16915981" cy="1387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02"/>
              </a:lnSpc>
            </a:pPr>
            <a:r>
              <a:rPr lang="en-US" sz="5400" spc="-81">
                <a:solidFill>
                  <a:srgbClr val="151A17"/>
                </a:solidFill>
                <a:latin typeface="Roboto"/>
                <a:ea typeface="Roboto"/>
                <a:cs typeface="Roboto"/>
                <a:sym typeface="Roboto"/>
              </a:rPr>
              <a:t>Country risk is concentrated in a small set of flagged populations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685781" y="3132982"/>
            <a:ext cx="8572281" cy="4953000"/>
            <a:chOff x="0" y="0"/>
            <a:chExt cx="11429708" cy="6604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11429746" cy="6604000"/>
            </a:xfrm>
            <a:custGeom>
              <a:avLst/>
              <a:gdLst/>
              <a:ahLst/>
              <a:cxnLst/>
              <a:rect l="l" t="t" r="r" b="b"/>
              <a:pathLst>
                <a:path w="11429746" h="6604000">
                  <a:moveTo>
                    <a:pt x="0" y="0"/>
                  </a:moveTo>
                  <a:lnTo>
                    <a:pt x="11429746" y="0"/>
                  </a:lnTo>
                  <a:lnTo>
                    <a:pt x="11429746" y="6604000"/>
                  </a:lnTo>
                  <a:lnTo>
                    <a:pt x="0" y="660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6" b="-46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0277513" y="3247130"/>
            <a:ext cx="7324239" cy="433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1"/>
              </a:lnSpc>
            </a:pPr>
            <a:r>
              <a:rPr lang="en-US" sz="2250" spc="157">
                <a:solidFill>
                  <a:srgbClr val="315B88"/>
                </a:solidFill>
                <a:latin typeface="Arimo"/>
                <a:ea typeface="Arimo"/>
                <a:cs typeface="Arimo"/>
                <a:sym typeface="Arimo"/>
              </a:rPr>
              <a:t>CONCENTRATED FLAGS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77513" y="3847205"/>
            <a:ext cx="7324239" cy="1605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05"/>
              </a:lnSpc>
            </a:pPr>
            <a:r>
              <a:rPr lang="en-US" sz="3900" spc="-58">
                <a:solidFill>
                  <a:srgbClr val="151A17"/>
                </a:solidFill>
                <a:latin typeface="Roboto"/>
                <a:ea typeface="Roboto"/>
                <a:cs typeface="Roboto"/>
                <a:sym typeface="Roboto"/>
              </a:rPr>
              <a:t>Country indicators are powerful prioritization signals—not conclusions.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77513" y="5657555"/>
            <a:ext cx="7324239" cy="2266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6"/>
              </a:lnSpc>
            </a:pPr>
            <a:r>
              <a:rPr lang="en-US" sz="2250">
                <a:solidFill>
                  <a:srgbClr val="28302C"/>
                </a:solidFill>
                <a:latin typeface="Roboto Slab"/>
                <a:ea typeface="Roboto Slab"/>
                <a:cs typeface="Roboto Slab"/>
                <a:sym typeface="Roboto Slab"/>
              </a:rPr>
              <a:t>All 108 Venezuela clients are OFAC-flagged. All North Korea clients are both FATF- and OFAC-flagged. All 95 Iran clients carry both flags.</a:t>
            </a:r>
          </a:p>
          <a:p>
            <a:pPr algn="l">
              <a:lnSpc>
                <a:spcPts val="3186"/>
              </a:lnSpc>
            </a:pPr>
            <a:r>
              <a:rPr lang="en-US" sz="2250">
                <a:solidFill>
                  <a:srgbClr val="28302C"/>
                </a:solidFill>
                <a:latin typeface="Roboto Slab"/>
                <a:ea typeface="Roboto Slab"/>
                <a:cs typeface="Roboto Slab"/>
                <a:sym typeface="Roboto Slab"/>
              </a:rPr>
              <a:t>Apply enhanced KYC and sanctions screening first, then validate individual list matches.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0" y="10277475"/>
            <a:ext cx="18287543" cy="9525"/>
            <a:chOff x="0" y="0"/>
            <a:chExt cx="24383390" cy="127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4383364" cy="12700"/>
            </a:xfrm>
            <a:custGeom>
              <a:avLst/>
              <a:gdLst/>
              <a:ahLst/>
              <a:cxnLst/>
              <a:rect l="l" t="t" r="r" b="b"/>
              <a:pathLst>
                <a:path w="24383364" h="12700">
                  <a:moveTo>
                    <a:pt x="0" y="0"/>
                  </a:moveTo>
                  <a:lnTo>
                    <a:pt x="24383364" y="0"/>
                  </a:lnTo>
                  <a:lnTo>
                    <a:pt x="24383364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4572B"/>
            </a:solid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7E1D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E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685781" y="628650"/>
            <a:ext cx="17601762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3000" spc="210">
                <a:solidFill>
                  <a:srgbClr val="315B88"/>
                </a:solidFill>
                <a:latin typeface="Arimo"/>
                <a:ea typeface="Arimo"/>
                <a:cs typeface="Arimo"/>
                <a:sym typeface="Arimo"/>
              </a:rPr>
              <a:t>CROSS-COUNTRY ANALYSIS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5781" y="1404937"/>
            <a:ext cx="16915981" cy="1387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02"/>
              </a:lnSpc>
            </a:pPr>
            <a:r>
              <a:rPr lang="en-US" sz="5400" spc="-81">
                <a:solidFill>
                  <a:srgbClr val="151A17"/>
                </a:solidFill>
                <a:latin typeface="Roboto"/>
                <a:ea typeface="Roboto"/>
                <a:cs typeface="Roboto"/>
                <a:sym typeface="Roboto"/>
              </a:rPr>
              <a:t>Corridors reveal sharper concentration than country averages</a:t>
            </a:r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685784" y="3130154"/>
          <a:ext cx="9601200" cy="4819650"/>
        </p:xfrm>
        <a:graphic>
          <a:graphicData uri="http://schemas.openxmlformats.org/drawingml/2006/table">
            <a:tbl>
              <a:tblPr/>
              <a:tblGrid>
                <a:gridCol w="17319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47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2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81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13990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151A17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Client country</a:t>
                      </a:r>
                      <a:endParaRPr lang="en-US" sz="1100"/>
                    </a:p>
                  </a:txBody>
                  <a:tcPr marL="142871" marR="142871" marT="142871" marB="142871" anchor="ctr">
                    <a:lnL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151A17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Counterparty country</a:t>
                      </a:r>
                      <a:endParaRPr lang="en-US" sz="1100"/>
                    </a:p>
                  </a:txBody>
                  <a:tcPr marL="142871" marR="142871" marT="142871" marB="142871" anchor="ctr">
                    <a:lnL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151A17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Transactions</a:t>
                      </a:r>
                      <a:endParaRPr lang="en-US" sz="1100"/>
                    </a:p>
                  </a:txBody>
                  <a:tcPr marL="142871" marR="142871" marT="142871" marB="142871" anchor="ctr">
                    <a:lnL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151A17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Total value</a:t>
                      </a:r>
                      <a:endParaRPr lang="en-US" sz="1100"/>
                    </a:p>
                  </a:txBody>
                  <a:tcPr marL="142871" marR="142871" marT="142871" marB="142871" anchor="ctr">
                    <a:lnL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151A17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Suspicious rate (%)</a:t>
                      </a:r>
                      <a:endParaRPr lang="en-US" sz="1100"/>
                    </a:p>
                  </a:txBody>
                  <a:tcPr marL="142871" marR="142871" marT="142871" marB="142871" anchor="ctr">
                    <a:lnL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757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28302C"/>
                          </a:solidFill>
                          <a:latin typeface="Roboto Slab Bold"/>
                          <a:ea typeface="Roboto Slab Bold"/>
                          <a:cs typeface="Roboto Slab Bold"/>
                          <a:sym typeface="Roboto Slab Bold"/>
                        </a:rPr>
                        <a:t>SY</a:t>
                      </a:r>
                      <a:endParaRPr lang="en-US" sz="1100"/>
                    </a:p>
                  </a:txBody>
                  <a:tcPr marL="142871" marR="142871" marT="142871" marB="142871" anchor="ctr">
                    <a:lnL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28302C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RU</a:t>
                      </a:r>
                      <a:endParaRPr lang="en-US" sz="1100"/>
                    </a:p>
                  </a:txBody>
                  <a:tcPr marL="142871" marR="142871" marT="142871" marB="142871" anchor="ctr">
                    <a:lnL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28302C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36</a:t>
                      </a:r>
                      <a:endParaRPr lang="en-US" sz="1100"/>
                    </a:p>
                  </a:txBody>
                  <a:tcPr marL="142871" marR="142871" marT="142871" marB="142871" anchor="ctr">
                    <a:lnL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28302C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$117,597.10</a:t>
                      </a:r>
                      <a:endParaRPr lang="en-US" sz="1100"/>
                    </a:p>
                  </a:txBody>
                  <a:tcPr marL="142871" marR="142871" marT="142871" marB="142871" anchor="ctr">
                    <a:lnL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28302C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100%</a:t>
                      </a:r>
                      <a:endParaRPr lang="en-US" sz="1100"/>
                    </a:p>
                  </a:txBody>
                  <a:tcPr marL="142871" marR="142871" marT="142871" marB="142871" anchor="ctr">
                    <a:lnL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5757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28302C"/>
                          </a:solidFill>
                          <a:latin typeface="Roboto Slab Bold"/>
                          <a:ea typeface="Roboto Slab Bold"/>
                          <a:cs typeface="Roboto Slab Bold"/>
                          <a:sym typeface="Roboto Slab Bold"/>
                        </a:rPr>
                        <a:t>VE</a:t>
                      </a:r>
                      <a:endParaRPr lang="en-US" sz="1100"/>
                    </a:p>
                  </a:txBody>
                  <a:tcPr marL="142871" marR="142871" marT="142871" marB="142871" anchor="ctr">
                    <a:lnL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28302C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IR</a:t>
                      </a:r>
                      <a:endParaRPr lang="en-US" sz="1100"/>
                    </a:p>
                  </a:txBody>
                  <a:tcPr marL="142871" marR="142871" marT="142871" marB="142871" anchor="ctr">
                    <a:lnL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28302C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34</a:t>
                      </a:r>
                      <a:endParaRPr lang="en-US" sz="1100"/>
                    </a:p>
                  </a:txBody>
                  <a:tcPr marL="142871" marR="142871" marT="142871" marB="142871" anchor="ctr">
                    <a:lnL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28302C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$196,536.79</a:t>
                      </a:r>
                      <a:endParaRPr lang="en-US" sz="1100"/>
                    </a:p>
                  </a:txBody>
                  <a:tcPr marL="142871" marR="142871" marT="142871" marB="142871" anchor="ctr">
                    <a:lnL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28302C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100%</a:t>
                      </a:r>
                      <a:endParaRPr lang="en-US" sz="1100"/>
                    </a:p>
                  </a:txBody>
                  <a:tcPr marL="142871" marR="142871" marT="142871" marB="142871" anchor="ctr">
                    <a:lnL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5757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28302C"/>
                          </a:solidFill>
                          <a:latin typeface="Roboto Slab Bold"/>
                          <a:ea typeface="Roboto Slab Bold"/>
                          <a:cs typeface="Roboto Slab Bold"/>
                          <a:sym typeface="Roboto Slab Bold"/>
                        </a:rPr>
                        <a:t>VE</a:t>
                      </a:r>
                      <a:endParaRPr lang="en-US" sz="1100"/>
                    </a:p>
                  </a:txBody>
                  <a:tcPr marL="142871" marR="142871" marT="142871" marB="142871" anchor="ctr">
                    <a:lnL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28302C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RU</a:t>
                      </a:r>
                      <a:endParaRPr lang="en-US" sz="1100"/>
                    </a:p>
                  </a:txBody>
                  <a:tcPr marL="142871" marR="142871" marT="142871" marB="142871" anchor="ctr">
                    <a:lnL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28302C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34</a:t>
                      </a:r>
                      <a:endParaRPr lang="en-US" sz="1100"/>
                    </a:p>
                  </a:txBody>
                  <a:tcPr marL="142871" marR="142871" marT="142871" marB="142871" anchor="ctr">
                    <a:lnL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28302C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$116,108.41</a:t>
                      </a:r>
                      <a:endParaRPr lang="en-US" sz="1100"/>
                    </a:p>
                  </a:txBody>
                  <a:tcPr marL="142871" marR="142871" marT="142871" marB="142871" anchor="ctr">
                    <a:lnL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28302C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100%</a:t>
                      </a:r>
                      <a:endParaRPr lang="en-US" sz="1100"/>
                    </a:p>
                  </a:txBody>
                  <a:tcPr marL="142871" marR="142871" marT="142871" marB="142871" anchor="ctr">
                    <a:lnL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5757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28302C"/>
                          </a:solidFill>
                          <a:latin typeface="Roboto Slab Bold"/>
                          <a:ea typeface="Roboto Slab Bold"/>
                          <a:cs typeface="Roboto Slab Bold"/>
                          <a:sym typeface="Roboto Slab Bold"/>
                        </a:rPr>
                        <a:t>SY</a:t>
                      </a:r>
                      <a:endParaRPr lang="en-US" sz="1100"/>
                    </a:p>
                  </a:txBody>
                  <a:tcPr marL="142871" marR="142871" marT="142871" marB="142871" anchor="ctr">
                    <a:lnL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28302C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SY</a:t>
                      </a:r>
                      <a:endParaRPr lang="en-US" sz="1100"/>
                    </a:p>
                  </a:txBody>
                  <a:tcPr marL="142871" marR="142871" marT="142871" marB="142871" anchor="ctr">
                    <a:lnL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28302C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32</a:t>
                      </a:r>
                      <a:endParaRPr lang="en-US" sz="1100"/>
                    </a:p>
                  </a:txBody>
                  <a:tcPr marL="142871" marR="142871" marT="142871" marB="142871" anchor="ctr">
                    <a:lnL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28302C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$127,055.64</a:t>
                      </a:r>
                      <a:endParaRPr lang="en-US" sz="1100"/>
                    </a:p>
                  </a:txBody>
                  <a:tcPr marL="142871" marR="142871" marT="142871" marB="142871" anchor="ctr">
                    <a:lnL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28302C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100%</a:t>
                      </a:r>
                      <a:endParaRPr lang="en-US" sz="1100"/>
                    </a:p>
                  </a:txBody>
                  <a:tcPr marL="142871" marR="142871" marT="142871" marB="142871" anchor="ctr">
                    <a:lnL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5757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28302C"/>
                          </a:solidFill>
                          <a:latin typeface="Roboto Slab Bold"/>
                          <a:ea typeface="Roboto Slab Bold"/>
                          <a:cs typeface="Roboto Slab Bold"/>
                          <a:sym typeface="Roboto Slab Bold"/>
                        </a:rPr>
                        <a:t>VE</a:t>
                      </a:r>
                      <a:endParaRPr lang="en-US" sz="1100"/>
                    </a:p>
                  </a:txBody>
                  <a:tcPr marL="142871" marR="142871" marT="142871" marB="142871" anchor="ctr">
                    <a:lnL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28302C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SY</a:t>
                      </a:r>
                      <a:endParaRPr lang="en-US" sz="1100"/>
                    </a:p>
                  </a:txBody>
                  <a:tcPr marL="142871" marR="142871" marT="142871" marB="142871" anchor="ctr">
                    <a:lnL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28302C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31</a:t>
                      </a:r>
                      <a:endParaRPr lang="en-US" sz="1100"/>
                    </a:p>
                  </a:txBody>
                  <a:tcPr marL="142871" marR="142871" marT="142871" marB="142871" anchor="ctr">
                    <a:lnL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28302C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$100,343.96</a:t>
                      </a:r>
                      <a:endParaRPr lang="en-US" sz="1100"/>
                    </a:p>
                  </a:txBody>
                  <a:tcPr marL="142871" marR="142871" marT="142871" marB="142871" anchor="ctr">
                    <a:lnL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28302C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100%</a:t>
                      </a:r>
                      <a:endParaRPr lang="en-US" sz="1100"/>
                    </a:p>
                  </a:txBody>
                  <a:tcPr marL="142871" marR="142871" marT="142871" marB="142871" anchor="ctr">
                    <a:lnL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6876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28302C"/>
                          </a:solidFill>
                          <a:latin typeface="Roboto Slab Bold"/>
                          <a:ea typeface="Roboto Slab Bold"/>
                          <a:cs typeface="Roboto Slab Bold"/>
                          <a:sym typeface="Roboto Slab Bold"/>
                        </a:rPr>
                        <a:t>VE</a:t>
                      </a:r>
                      <a:endParaRPr lang="en-US" sz="1100"/>
                    </a:p>
                  </a:txBody>
                  <a:tcPr marL="142871" marR="142871" marT="142871" marB="142871" anchor="ctr">
                    <a:lnL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28302C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VE</a:t>
                      </a:r>
                      <a:endParaRPr lang="en-US" sz="1100"/>
                    </a:p>
                  </a:txBody>
                  <a:tcPr marL="142871" marR="142871" marT="142871" marB="142871" anchor="ctr">
                    <a:lnL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28302C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27</a:t>
                      </a:r>
                      <a:endParaRPr lang="en-US" sz="1100"/>
                    </a:p>
                  </a:txBody>
                  <a:tcPr marL="142871" marR="142871" marT="142871" marB="142871" anchor="ctr">
                    <a:lnL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28302C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$195,768.00</a:t>
                      </a:r>
                      <a:endParaRPr lang="en-US" sz="1100"/>
                    </a:p>
                  </a:txBody>
                  <a:tcPr marL="142871" marR="142871" marT="142871" marB="142871" anchor="ctr">
                    <a:lnL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28302C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100%</a:t>
                      </a:r>
                      <a:endParaRPr lang="en-US" sz="1100"/>
                    </a:p>
                  </a:txBody>
                  <a:tcPr marL="142871" marR="142871" marT="142871" marB="142871" anchor="ctr">
                    <a:lnL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A0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Box 9"/>
          <p:cNvSpPr txBox="1"/>
          <p:nvPr/>
        </p:nvSpPr>
        <p:spPr>
          <a:xfrm>
            <a:off x="10771165" y="3073003"/>
            <a:ext cx="6830597" cy="520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61"/>
              </a:lnSpc>
            </a:pPr>
            <a:r>
              <a:rPr lang="en-US" sz="2700" spc="189">
                <a:solidFill>
                  <a:srgbClr val="315B88"/>
                </a:solidFill>
                <a:latin typeface="Arimo"/>
                <a:ea typeface="Arimo"/>
                <a:cs typeface="Arimo"/>
                <a:sym typeface="Arimo"/>
              </a:rPr>
              <a:t>PORTFOLIO CONTEXT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71165" y="3893048"/>
            <a:ext cx="6830597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6000" spc="-150">
                <a:solidFill>
                  <a:srgbClr val="151A17"/>
                </a:solidFill>
                <a:latin typeface="Alfa Slab One"/>
                <a:ea typeface="Alfa Slab One"/>
                <a:cs typeface="Alfa Slab One"/>
                <a:sym typeface="Alfa Slab One"/>
              </a:rPr>
              <a:t>10.00%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771165" y="4716961"/>
            <a:ext cx="6830597" cy="443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6"/>
              </a:lnSpc>
            </a:pPr>
            <a:r>
              <a:rPr lang="en-US" sz="2250">
                <a:solidFill>
                  <a:srgbClr val="28302C"/>
                </a:solidFill>
                <a:latin typeface="Roboto Slab"/>
                <a:ea typeface="Roboto Slab"/>
                <a:cs typeface="Roboto Slab"/>
                <a:sym typeface="Roboto Slab"/>
              </a:rPr>
              <a:t>Domestic suspicious rate across 2,419 records.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771165" y="5627484"/>
            <a:ext cx="6830597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6000" spc="-150">
                <a:solidFill>
                  <a:srgbClr val="151A17"/>
                </a:solidFill>
                <a:latin typeface="Alfa Slab One"/>
                <a:ea typeface="Alfa Slab One"/>
                <a:cs typeface="Alfa Slab One"/>
                <a:sym typeface="Alfa Slab One"/>
              </a:rPr>
              <a:t>8.93%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771165" y="6451397"/>
            <a:ext cx="6830597" cy="443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6"/>
              </a:lnSpc>
            </a:pPr>
            <a:r>
              <a:rPr lang="en-US" sz="2250">
                <a:solidFill>
                  <a:srgbClr val="28302C"/>
                </a:solidFill>
                <a:latin typeface="Roboto Slab"/>
                <a:ea typeface="Roboto Slab"/>
                <a:cs typeface="Roboto Slab"/>
                <a:sym typeface="Roboto Slab"/>
              </a:rPr>
              <a:t>Cross-border suspicious rate across 47,581 records.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71165" y="7038080"/>
            <a:ext cx="6830597" cy="1274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6"/>
              </a:lnSpc>
            </a:pPr>
            <a:r>
              <a:rPr lang="en-US" sz="2250">
                <a:solidFill>
                  <a:srgbClr val="28302C"/>
                </a:solidFill>
                <a:latin typeface="Roboto"/>
                <a:ea typeface="Roboto"/>
                <a:cs typeface="Roboto"/>
                <a:sym typeface="Roboto"/>
              </a:rPr>
              <a:t>Validate whether country-risk flags are driving the 100% corridor rates before escalating as confirmed illicit activity.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0" y="10277475"/>
            <a:ext cx="18287543" cy="9525"/>
            <a:chOff x="0" y="0"/>
            <a:chExt cx="24383390" cy="127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4383364" cy="12700"/>
            </a:xfrm>
            <a:custGeom>
              <a:avLst/>
              <a:gdLst/>
              <a:ahLst/>
              <a:cxnLst/>
              <a:rect l="l" t="t" r="r" b="b"/>
              <a:pathLst>
                <a:path w="24383364" h="12700">
                  <a:moveTo>
                    <a:pt x="0" y="0"/>
                  </a:moveTo>
                  <a:lnTo>
                    <a:pt x="24383364" y="0"/>
                  </a:lnTo>
                  <a:lnTo>
                    <a:pt x="24383364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4572B"/>
            </a:solidFill>
          </p:spPr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7E1D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E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685781" y="628650"/>
            <a:ext cx="17601762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3000" spc="210">
                <a:solidFill>
                  <a:srgbClr val="315B88"/>
                </a:solidFill>
                <a:latin typeface="Arimo"/>
                <a:ea typeface="Arimo"/>
                <a:cs typeface="Arimo"/>
                <a:sym typeface="Arimo"/>
              </a:rPr>
              <a:t>TREND ANALYSIS · JUL–SEP 2025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5781" y="1404937"/>
            <a:ext cx="16915981" cy="1387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02"/>
              </a:lnSpc>
            </a:pPr>
            <a:r>
              <a:rPr lang="en-US" sz="5400" spc="-81">
                <a:solidFill>
                  <a:srgbClr val="151A17"/>
                </a:solidFill>
                <a:latin typeface="Roboto"/>
                <a:ea typeface="Roboto"/>
                <a:cs typeface="Roboto"/>
                <a:sym typeface="Roboto"/>
              </a:rPr>
              <a:t>Suspicious rates eased modestly as volume stayed elevated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685781" y="3130153"/>
            <a:ext cx="8667531" cy="4765034"/>
            <a:chOff x="0" y="0"/>
            <a:chExt cx="11556708" cy="6353378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11556746" cy="6353429"/>
            </a:xfrm>
            <a:custGeom>
              <a:avLst/>
              <a:gdLst/>
              <a:ahLst/>
              <a:cxnLst/>
              <a:rect l="l" t="t" r="r" b="b"/>
              <a:pathLst>
                <a:path w="11556746" h="6353429">
                  <a:moveTo>
                    <a:pt x="0" y="0"/>
                  </a:moveTo>
                  <a:lnTo>
                    <a:pt x="11556746" y="0"/>
                  </a:lnTo>
                  <a:lnTo>
                    <a:pt x="11556746" y="6353429"/>
                  </a:lnTo>
                  <a:lnTo>
                    <a:pt x="0" y="63534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4" b="-43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0112769" y="3810295"/>
            <a:ext cx="2496226" cy="433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1"/>
              </a:lnSpc>
            </a:pPr>
            <a:r>
              <a:rPr lang="en-US" sz="2250" spc="157">
                <a:solidFill>
                  <a:srgbClr val="315B88"/>
                </a:solidFill>
                <a:latin typeface="Arimo"/>
                <a:ea typeface="Arimo"/>
                <a:cs typeface="Arimo"/>
                <a:sym typeface="Arimo"/>
              </a:rPr>
              <a:t>JULY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112769" y="4405608"/>
            <a:ext cx="2153336" cy="2066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6"/>
              </a:lnSpc>
            </a:pPr>
            <a:r>
              <a:rPr lang="en-US" sz="2250" b="1">
                <a:solidFill>
                  <a:srgbClr val="2830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16,141</a:t>
            </a:r>
            <a:r>
              <a:rPr lang="en-US" sz="2250">
                <a:solidFill>
                  <a:srgbClr val="28302C"/>
                </a:solidFill>
                <a:latin typeface="Roboto Slab"/>
                <a:ea typeface="Roboto Slab"/>
                <a:cs typeface="Roboto Slab"/>
                <a:sym typeface="Roboto Slab"/>
              </a:rPr>
              <a:t> -transactions · 1,483 -suspicious 9.19% - rate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951885" y="3810295"/>
            <a:ext cx="2153488" cy="433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1"/>
              </a:lnSpc>
            </a:pPr>
            <a:r>
              <a:rPr lang="en-US" sz="2250" spc="157">
                <a:solidFill>
                  <a:srgbClr val="315B88"/>
                </a:solidFill>
                <a:latin typeface="Arimo"/>
                <a:ea typeface="Arimo"/>
                <a:cs typeface="Arimo"/>
                <a:sym typeface="Arimo"/>
              </a:rPr>
              <a:t>AUGUST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951885" y="4405608"/>
            <a:ext cx="1810598" cy="2066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6"/>
              </a:lnSpc>
            </a:pPr>
            <a:r>
              <a:rPr lang="en-US" sz="2250" b="1">
                <a:solidFill>
                  <a:srgbClr val="2830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17,260</a:t>
            </a:r>
            <a:r>
              <a:rPr lang="en-US" sz="2250">
                <a:solidFill>
                  <a:srgbClr val="28302C"/>
                </a:solidFill>
                <a:latin typeface="Roboto Slab"/>
                <a:ea typeface="Roboto Slab"/>
                <a:cs typeface="Roboto Slab"/>
                <a:sym typeface="Roboto Slab"/>
              </a:rPr>
              <a:t> -transactions 1,520-suspicious 8.81%-rate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448274" y="3810295"/>
            <a:ext cx="2153336" cy="433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1"/>
              </a:lnSpc>
            </a:pPr>
            <a:r>
              <a:rPr lang="en-US" sz="2250" spc="157">
                <a:solidFill>
                  <a:srgbClr val="315B88"/>
                </a:solidFill>
                <a:latin typeface="Arimo"/>
                <a:ea typeface="Arimo"/>
                <a:cs typeface="Arimo"/>
                <a:sym typeface="Arimo"/>
              </a:rPr>
              <a:t>SEPTEMBER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448274" y="4405608"/>
            <a:ext cx="2153336" cy="2066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6"/>
              </a:lnSpc>
            </a:pPr>
            <a:r>
              <a:rPr lang="en-US" sz="2250" b="1">
                <a:solidFill>
                  <a:srgbClr val="2830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16,599</a:t>
            </a:r>
            <a:r>
              <a:rPr lang="en-US" sz="2250">
                <a:solidFill>
                  <a:srgbClr val="28302C"/>
                </a:solidFill>
                <a:latin typeface="Roboto Slab"/>
                <a:ea typeface="Roboto Slab"/>
                <a:cs typeface="Roboto Slab"/>
                <a:sym typeface="Roboto Slab"/>
              </a:rPr>
              <a:t> -transactions · 1,486-suspicious · 8.95%-rate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112769" y="6615112"/>
            <a:ext cx="7488993" cy="1274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6"/>
              </a:lnSpc>
            </a:pPr>
            <a:r>
              <a:rPr lang="en-US" sz="2250">
                <a:solidFill>
                  <a:srgbClr val="28302C"/>
                </a:solidFill>
                <a:latin typeface="Roboto"/>
                <a:ea typeface="Roboto"/>
                <a:cs typeface="Roboto"/>
                <a:sym typeface="Roboto"/>
              </a:rPr>
              <a:t>Absolute suspicious counts remain high. The data alone cannot determine whether the rate dip reflects improved monitoring or a changing activity mix.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2599470" y="3857920"/>
            <a:ext cx="19050" cy="2614317"/>
            <a:chOff x="0" y="0"/>
            <a:chExt cx="25400" cy="348575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5400" cy="3485769"/>
            </a:xfrm>
            <a:custGeom>
              <a:avLst/>
              <a:gdLst/>
              <a:ahLst/>
              <a:cxnLst/>
              <a:rect l="l" t="t" r="r" b="b"/>
              <a:pathLst>
                <a:path w="25400" h="3485769">
                  <a:moveTo>
                    <a:pt x="0" y="0"/>
                  </a:moveTo>
                  <a:lnTo>
                    <a:pt x="25400" y="0"/>
                  </a:lnTo>
                  <a:lnTo>
                    <a:pt x="25400" y="3485769"/>
                  </a:lnTo>
                  <a:lnTo>
                    <a:pt x="0" y="3485769"/>
                  </a:lnTo>
                  <a:close/>
                </a:path>
              </a:pathLst>
            </a:custGeom>
            <a:solidFill>
              <a:srgbClr val="315B88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15095858" y="3857920"/>
            <a:ext cx="19050" cy="2614317"/>
            <a:chOff x="0" y="0"/>
            <a:chExt cx="25400" cy="348575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5400" cy="3485769"/>
            </a:xfrm>
            <a:custGeom>
              <a:avLst/>
              <a:gdLst/>
              <a:ahLst/>
              <a:cxnLst/>
              <a:rect l="l" t="t" r="r" b="b"/>
              <a:pathLst>
                <a:path w="25400" h="3485769">
                  <a:moveTo>
                    <a:pt x="0" y="0"/>
                  </a:moveTo>
                  <a:lnTo>
                    <a:pt x="25400" y="0"/>
                  </a:lnTo>
                  <a:lnTo>
                    <a:pt x="25400" y="3485769"/>
                  </a:lnTo>
                  <a:lnTo>
                    <a:pt x="0" y="3485769"/>
                  </a:lnTo>
                  <a:close/>
                </a:path>
              </a:pathLst>
            </a:custGeom>
            <a:solidFill>
              <a:srgbClr val="315B88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0" y="10277475"/>
            <a:ext cx="18287543" cy="9525"/>
            <a:chOff x="0" y="0"/>
            <a:chExt cx="24383390" cy="127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4383364" cy="12700"/>
            </a:xfrm>
            <a:custGeom>
              <a:avLst/>
              <a:gdLst/>
              <a:ahLst/>
              <a:cxnLst/>
              <a:rect l="l" t="t" r="r" b="b"/>
              <a:pathLst>
                <a:path w="24383364" h="12700">
                  <a:moveTo>
                    <a:pt x="0" y="0"/>
                  </a:moveTo>
                  <a:lnTo>
                    <a:pt x="24383364" y="0"/>
                  </a:lnTo>
                  <a:lnTo>
                    <a:pt x="24383364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4572B"/>
            </a:solidFill>
          </p:spPr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7E1D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E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685781" y="628650"/>
            <a:ext cx="17601762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3000" spc="210">
                <a:solidFill>
                  <a:srgbClr val="315B88"/>
                </a:solidFill>
                <a:latin typeface="Arimo"/>
                <a:ea typeface="Arimo"/>
                <a:cs typeface="Arimo"/>
                <a:sym typeface="Arimo"/>
              </a:rPr>
              <a:t>TRANSACTION PATTERN ANALYSIS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5781" y="1404937"/>
            <a:ext cx="16915981" cy="1387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02"/>
              </a:lnSpc>
            </a:pPr>
            <a:r>
              <a:rPr lang="en-US" sz="5400" spc="-81">
                <a:solidFill>
                  <a:srgbClr val="151A17"/>
                </a:solidFill>
                <a:latin typeface="Roboto"/>
                <a:ea typeface="Roboto"/>
                <a:cs typeface="Roboto"/>
                <a:sym typeface="Roboto"/>
              </a:rPr>
              <a:t>The strongest behavioural signal sits in the $5K–$9.9K band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685781" y="3130153"/>
            <a:ext cx="8667531" cy="4765034"/>
            <a:chOff x="0" y="0"/>
            <a:chExt cx="11556708" cy="6353378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11556746" cy="6353429"/>
            </a:xfrm>
            <a:custGeom>
              <a:avLst/>
              <a:gdLst/>
              <a:ahLst/>
              <a:cxnLst/>
              <a:rect l="l" t="t" r="r" b="b"/>
              <a:pathLst>
                <a:path w="11556746" h="6353429">
                  <a:moveTo>
                    <a:pt x="0" y="0"/>
                  </a:moveTo>
                  <a:lnTo>
                    <a:pt x="11556746" y="0"/>
                  </a:lnTo>
                  <a:lnTo>
                    <a:pt x="11556746" y="6353429"/>
                  </a:lnTo>
                  <a:lnTo>
                    <a:pt x="0" y="63534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4" b="-43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1841061" y="3504752"/>
            <a:ext cx="5760691" cy="516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05"/>
              </a:lnSpc>
            </a:pPr>
            <a:r>
              <a:rPr lang="en-US" sz="3900" spc="-58">
                <a:solidFill>
                  <a:srgbClr val="151A17"/>
                </a:solidFill>
                <a:latin typeface="Roboto"/>
                <a:ea typeface="Roboto"/>
                <a:cs typeface="Roboto"/>
                <a:sym typeface="Roboto"/>
              </a:rPr>
              <a:t>Highest rate: $5K–$9.9K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41061" y="4225681"/>
            <a:ext cx="5760691" cy="4695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6"/>
              </a:lnSpc>
            </a:pPr>
            <a:r>
              <a:rPr lang="en-US" sz="2250">
                <a:solidFill>
                  <a:srgbClr val="28302C"/>
                </a:solidFill>
                <a:latin typeface="Roboto Slab"/>
                <a:ea typeface="Roboto Slab"/>
                <a:cs typeface="Roboto Slab"/>
                <a:sym typeface="Roboto Slab"/>
              </a:rPr>
              <a:t>15.43% suspicious across 4,304 transactions.</a:t>
            </a:r>
          </a:p>
          <a:p>
            <a:pPr algn="l">
              <a:lnSpc>
                <a:spcPts val="3186"/>
              </a:lnSpc>
            </a:pPr>
            <a:r>
              <a:rPr lang="en-US" sz="2250" b="1">
                <a:solidFill>
                  <a:srgbClr val="2830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Highest volume:</a:t>
            </a:r>
            <a:r>
              <a:rPr lang="en-US" sz="2250">
                <a:solidFill>
                  <a:srgbClr val="28302C"/>
                </a:solidFill>
                <a:latin typeface="Roboto Slab"/>
                <a:ea typeface="Roboto Slab"/>
                <a:cs typeface="Roboto Slab"/>
                <a:sym typeface="Roboto Slab"/>
              </a:rPr>
              <a:t> $1K–$4.9K with 24,268 transactions and 1,961 suspicious transactions.</a:t>
            </a:r>
          </a:p>
          <a:p>
            <a:pPr algn="l">
              <a:lnSpc>
                <a:spcPts val="3186"/>
              </a:lnSpc>
            </a:pPr>
            <a:r>
              <a:rPr lang="en-US" sz="2250">
                <a:solidFill>
                  <a:srgbClr val="28302C"/>
                </a:solidFill>
                <a:latin typeface="Roboto Slab"/>
                <a:ea typeface="Roboto Slab"/>
                <a:cs typeface="Roboto Slab"/>
                <a:sym typeface="Roboto Slab"/>
              </a:rPr>
              <a:t>Three transactions clustered just below $10,000 should trigger review—not be treated as proof of structuring.</a:t>
            </a:r>
          </a:p>
          <a:p>
            <a:pPr algn="l">
              <a:lnSpc>
                <a:spcPts val="3186"/>
              </a:lnSpc>
            </a:pPr>
            <a:r>
              <a:rPr lang="en-US" sz="2250" b="1">
                <a:solidFill>
                  <a:srgbClr val="2830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Outlier:</a:t>
            </a:r>
            <a:r>
              <a:rPr lang="en-US" sz="2250">
                <a:solidFill>
                  <a:srgbClr val="28302C"/>
                </a:solidFill>
                <a:latin typeface="Roboto Slab"/>
                <a:ea typeface="Roboto Slab"/>
                <a:cs typeface="Roboto Slab"/>
                <a:sym typeface="Roboto Slab"/>
              </a:rPr>
              <a:t> z-score 6.18; $154.9K transaction versus a $7.1K client average.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0" y="10277475"/>
            <a:ext cx="18287543" cy="9525"/>
            <a:chOff x="0" y="0"/>
            <a:chExt cx="24383390" cy="127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4383364" cy="12700"/>
            </a:xfrm>
            <a:custGeom>
              <a:avLst/>
              <a:gdLst/>
              <a:ahLst/>
              <a:cxnLst/>
              <a:rect l="l" t="t" r="r" b="b"/>
              <a:pathLst>
                <a:path w="24383364" h="12700">
                  <a:moveTo>
                    <a:pt x="0" y="0"/>
                  </a:moveTo>
                  <a:lnTo>
                    <a:pt x="24383364" y="0"/>
                  </a:lnTo>
                  <a:lnTo>
                    <a:pt x="24383364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4572B"/>
            </a:solidFill>
          </p:spPr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7E1D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E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685781" y="628650"/>
            <a:ext cx="17601762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3000" spc="210">
                <a:solidFill>
                  <a:srgbClr val="315B88"/>
                </a:solidFill>
                <a:latin typeface="Arimo"/>
                <a:ea typeface="Arimo"/>
                <a:cs typeface="Arimo"/>
                <a:sym typeface="Arimo"/>
              </a:rPr>
              <a:t>ALERT DRIVERS · INVESTIGATION PRIORITIES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5781" y="1404937"/>
            <a:ext cx="16915981" cy="1387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02"/>
              </a:lnSpc>
            </a:pPr>
            <a:r>
              <a:rPr lang="en-US" sz="5400" spc="-81">
                <a:solidFill>
                  <a:srgbClr val="151A17"/>
                </a:solidFill>
                <a:latin typeface="Roboto"/>
                <a:ea typeface="Roboto"/>
                <a:cs typeface="Roboto"/>
                <a:sym typeface="Roboto"/>
              </a:rPr>
              <a:t>Monitoring workload is concentrated in two rules, with complementary coverage underneath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685781" y="3130153"/>
            <a:ext cx="9715252" cy="3810000"/>
            <a:chOff x="0" y="0"/>
            <a:chExt cx="12953670" cy="5080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12953619" cy="5080000"/>
            </a:xfrm>
            <a:custGeom>
              <a:avLst/>
              <a:gdLst/>
              <a:ahLst/>
              <a:cxnLst/>
              <a:rect l="l" t="t" r="r" b="b"/>
              <a:pathLst>
                <a:path w="12953619" h="5080000">
                  <a:moveTo>
                    <a:pt x="0" y="0"/>
                  </a:moveTo>
                  <a:lnTo>
                    <a:pt x="12953619" y="0"/>
                  </a:lnTo>
                  <a:lnTo>
                    <a:pt x="12953619" y="5080000"/>
                  </a:lnTo>
                  <a:lnTo>
                    <a:pt x="0" y="508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61" b="-61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685781" y="7030641"/>
            <a:ext cx="9875244" cy="1204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1"/>
              </a:lnSpc>
            </a:pPr>
            <a:r>
              <a:rPr lang="en-US" sz="2250" spc="44">
                <a:solidFill>
                  <a:srgbClr val="66706A"/>
                </a:solidFill>
                <a:latin typeface="Arimo"/>
                <a:ea typeface="Arimo"/>
                <a:cs typeface="Arimo"/>
                <a:sym typeface="Arimo"/>
              </a:rPr>
              <a:t>Triggered rates: Rapid movement 4.92% · OFAC match 3.58% · FATF country 1.20% · Structuring 0.69% · Trade mispricing 0.02%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018063" y="3158728"/>
            <a:ext cx="6583690" cy="1605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05"/>
              </a:lnSpc>
            </a:pPr>
            <a:r>
              <a:rPr lang="en-US" sz="3900" spc="-58">
                <a:solidFill>
                  <a:srgbClr val="151A17"/>
                </a:solidFill>
                <a:latin typeface="Roboto"/>
                <a:ea typeface="Roboto"/>
                <a:cs typeface="Roboto"/>
                <a:sym typeface="Roboto"/>
              </a:rPr>
              <a:t>Prioritize dominant queues; retain smaller rules for coverage.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018063" y="4969078"/>
            <a:ext cx="6583690" cy="3860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7194" lvl="1" indent="-203597" algn="l">
              <a:lnSpc>
                <a:spcPts val="3186"/>
              </a:lnSpc>
              <a:buAutoNum type="arabicPeriod"/>
            </a:pPr>
            <a:r>
              <a:rPr lang="en-US" sz="2250" b="1">
                <a:solidFill>
                  <a:srgbClr val="2830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Triage:</a:t>
            </a:r>
            <a:r>
              <a:rPr lang="en-US" sz="2250">
                <a:solidFill>
                  <a:srgbClr val="28302C"/>
                </a:solidFill>
                <a:latin typeface="Roboto Slab"/>
                <a:ea typeface="Roboto Slab"/>
                <a:cs typeface="Roboto Slab"/>
                <a:sym typeface="Roboto Slab"/>
              </a:rPr>
              <a:t> Review rapid movement and OFAC alongside stacked country and ownership flags.</a:t>
            </a:r>
          </a:p>
          <a:p>
            <a:pPr marL="407194" lvl="1" indent="-203597" algn="l">
              <a:lnSpc>
                <a:spcPts val="3186"/>
              </a:lnSpc>
              <a:buAutoNum type="arabicPeriod"/>
            </a:pPr>
            <a:r>
              <a:rPr lang="en-US" sz="2250" b="1">
                <a:solidFill>
                  <a:srgbClr val="2830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Validate:</a:t>
            </a:r>
            <a:r>
              <a:rPr lang="en-US" sz="2250">
                <a:solidFill>
                  <a:srgbClr val="28302C"/>
                </a:solidFill>
                <a:latin typeface="Roboto Slab"/>
                <a:ea typeface="Roboto Slab"/>
                <a:cs typeface="Roboto Slab"/>
                <a:sym typeface="Roboto Slab"/>
              </a:rPr>
              <a:t> Check list matches, beneficial ownership, and corridor context before escalation.</a:t>
            </a:r>
          </a:p>
          <a:p>
            <a:pPr marL="407194" lvl="1" indent="-203597" algn="l">
              <a:lnSpc>
                <a:spcPts val="3186"/>
              </a:lnSpc>
              <a:buAutoNum type="arabicPeriod"/>
            </a:pPr>
            <a:r>
              <a:rPr lang="en-US" sz="2250" b="1">
                <a:solidFill>
                  <a:srgbClr val="2830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Preserve coverage:</a:t>
            </a:r>
            <a:r>
              <a:rPr lang="en-US" sz="2250">
                <a:solidFill>
                  <a:srgbClr val="28302C"/>
                </a:solidFill>
                <a:latin typeface="Roboto Slab"/>
                <a:ea typeface="Roboto Slab"/>
                <a:cs typeface="Roboto Slab"/>
                <a:sym typeface="Roboto Slab"/>
              </a:rPr>
              <a:t> Keep structuring and trade-mispricing active as complementary signals.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5781" y="9087145"/>
            <a:ext cx="16915981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1"/>
              </a:lnSpc>
            </a:pPr>
            <a:r>
              <a:rPr lang="en-US" sz="2250" spc="44">
                <a:solidFill>
                  <a:srgbClr val="66706A"/>
                </a:solidFill>
                <a:latin typeface="Arimo"/>
                <a:ea typeface="Arimo"/>
                <a:cs typeface="Arimo"/>
                <a:sym typeface="Arimo"/>
              </a:rPr>
              <a:t>Co-occurrence: 11 of 347 structuring alerts also fire rapid movement (3.2% overlap). Treat alerts as investigation leads, not proof of illicit activity.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0" y="10277475"/>
            <a:ext cx="18287543" cy="9525"/>
            <a:chOff x="0" y="0"/>
            <a:chExt cx="24383390" cy="127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4383364" cy="12700"/>
            </a:xfrm>
            <a:custGeom>
              <a:avLst/>
              <a:gdLst/>
              <a:ahLst/>
              <a:cxnLst/>
              <a:rect l="l" t="t" r="r" b="b"/>
              <a:pathLst>
                <a:path w="24383364" h="12700">
                  <a:moveTo>
                    <a:pt x="0" y="0"/>
                  </a:moveTo>
                  <a:lnTo>
                    <a:pt x="24383364" y="0"/>
                  </a:lnTo>
                  <a:lnTo>
                    <a:pt x="24383364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4572B"/>
            </a:solid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761</Words>
  <Application>Microsoft Office PowerPoint</Application>
  <PresentationFormat>Custom</PresentationFormat>
  <Paragraphs>136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Alfa Slab One</vt:lpstr>
      <vt:lpstr>Roboto Slab Bold</vt:lpstr>
      <vt:lpstr>Arimo</vt:lpstr>
      <vt:lpstr>Calibri</vt:lpstr>
      <vt:lpstr>Roboto Slab</vt:lpstr>
      <vt:lpstr>Roboto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 Text Magic Studio Magic Design for Presentations L&amp;P</dc:title>
  <dc:creator>Shwetha</dc:creator>
  <cp:lastModifiedBy>shwethag88@gmail.com</cp:lastModifiedBy>
  <cp:revision>1</cp:revision>
  <dcterms:created xsi:type="dcterms:W3CDTF">2006-08-16T00:00:00Z</dcterms:created>
  <dcterms:modified xsi:type="dcterms:W3CDTF">2026-09-30T13:15:58Z</dcterms:modified>
  <dc:identifier>DAHWrHeg4v8</dc:identifier>
</cp:coreProperties>
</file>