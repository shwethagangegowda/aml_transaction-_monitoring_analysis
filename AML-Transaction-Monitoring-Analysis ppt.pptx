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Alfa Slab One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DM Mono" panose="020B0604020202020204" charset="0"/>
      <p:regular r:id="rId18"/>
    </p:embeddedFont>
    <p:embeddedFont>
      <p:font typeface="DM Mono Medium" panose="020B0604020202020204" charset="0"/>
      <p:regular r:id="rId19"/>
    </p:embeddedFont>
    <p:embeddedFont>
      <p:font typeface="Roboto Slab" panose="020B0604020202020204" charset="0"/>
      <p:regular r:id="rId20"/>
    </p:embeddedFont>
    <p:embeddedFont>
      <p:font typeface="Roboto Slab Bold" panose="020B0604020202020204" charset="0"/>
      <p:regular r:id="rId21"/>
    </p:embeddedFont>
    <p:embeddedFont>
      <p:font typeface="Roboto Slab SemiBold" panose="020B0604020202020204" charset="0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0724" autoAdjust="0"/>
  </p:normalViewPr>
  <p:slideViewPr>
    <p:cSldViewPr snapToGrid="0" snapToObjects="1">
      <p:cViewPr varScale="1">
        <p:scale>
          <a:sx n="65" d="100"/>
          <a:sy n="65" d="100"/>
        </p:scale>
        <p:origin x="9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9085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1D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7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1D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3" name="Text 1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09585" y="1912441"/>
            <a:ext cx="7111822" cy="4310459"/>
          </a:xfrm>
          <a:prstGeom prst="roundRect">
            <a:avLst>
              <a:gd name="adj" fmla="val 663"/>
            </a:avLst>
          </a:prstGeom>
          <a:solidFill>
            <a:srgbClr val="F7F3E7"/>
          </a:solidFill>
          <a:ln/>
        </p:spPr>
      </p:sp>
      <p:sp>
        <p:nvSpPr>
          <p:cNvPr id="5" name="Text 3"/>
          <p:cNvSpPr/>
          <p:nvPr/>
        </p:nvSpPr>
        <p:spPr>
          <a:xfrm>
            <a:off x="990575" y="2217241"/>
            <a:ext cx="69594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kern="0" spc="105" dirty="0">
                <a:solidFill>
                  <a:srgbClr val="151A17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AML PORTFOLIO RISK REVIEW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90575" y="3335437"/>
            <a:ext cx="6349841" cy="1292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800" kern="0" spc="-72" dirty="0">
                <a:solidFill>
                  <a:srgbClr val="000000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AML Transaction</a:t>
            </a:r>
            <a:endParaRPr lang="en-US" sz="4800" dirty="0"/>
          </a:p>
          <a:p>
            <a:pPr marL="0" indent="0" algn="l">
              <a:lnSpc>
                <a:spcPct val="88000"/>
              </a:lnSpc>
              <a:buNone/>
            </a:pPr>
            <a:r>
              <a:rPr lang="en-US" sz="4800" kern="0" spc="-72" dirty="0">
                <a:solidFill>
                  <a:srgbClr val="000000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Monitoring Analysis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90575" y="4899124"/>
            <a:ext cx="2095448" cy="31651"/>
          </a:xfrm>
          <a:prstGeom prst="roundRect">
            <a:avLst>
              <a:gd name="adj" fmla="val 49998"/>
            </a:avLst>
          </a:prstGeom>
          <a:solidFill>
            <a:srgbClr val="C4572B"/>
          </a:solidFill>
          <a:ln/>
        </p:spPr>
      </p:sp>
      <p:sp>
        <p:nvSpPr>
          <p:cNvPr id="8" name="Text 6"/>
          <p:cNvSpPr/>
          <p:nvPr/>
        </p:nvSpPr>
        <p:spPr>
          <a:xfrm>
            <a:off x="990575" y="5180112"/>
            <a:ext cx="6959426" cy="41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0" spc="36" dirty="0">
                <a:solidFill>
                  <a:srgbClr val="151A17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Presented by </a:t>
            </a:r>
            <a:r>
              <a:rPr lang="en-US" sz="2400" kern="0" spc="36" dirty="0">
                <a:solidFill>
                  <a:srgbClr val="151A17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Shwetha .G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0" spc="140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PORTFOLIO ANALYSIS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189" y="892175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8.98% of transactions triggered a suspicious-activity rule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189" y="2366169"/>
            <a:ext cx="3530512" cy="82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5000"/>
              </a:lnSpc>
              <a:buNone/>
            </a:pPr>
            <a:r>
              <a:rPr lang="en-US" sz="7200" kern="0" spc="-180" dirty="0">
                <a:solidFill>
                  <a:srgbClr val="151A17"/>
                </a:solidFill>
                <a:latin typeface="Alfa Slab One" pitchFamily="34" charset="0"/>
                <a:ea typeface="Alfa Slab One" pitchFamily="34" charset="-122"/>
                <a:cs typeface="Alfa Slab One" pitchFamily="34" charset="-120"/>
              </a:rPr>
              <a:t>50,000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189" y="3414514"/>
            <a:ext cx="3759106" cy="1885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kern="0" spc="77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189" y="3736380"/>
            <a:ext cx="3530512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$209.8M total value across 2,000 clients.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16295" y="2086769"/>
            <a:ext cx="3759106" cy="2444552"/>
          </a:xfrm>
          <a:prstGeom prst="rect">
            <a:avLst/>
          </a:prstGeom>
          <a:solidFill>
            <a:srgbClr val="86D2B1"/>
          </a:solidFill>
          <a:ln/>
        </p:spPr>
      </p:sp>
      <p:sp>
        <p:nvSpPr>
          <p:cNvPr id="8" name="Text 6"/>
          <p:cNvSpPr/>
          <p:nvPr/>
        </p:nvSpPr>
        <p:spPr>
          <a:xfrm>
            <a:off x="4444889" y="2366169"/>
            <a:ext cx="3301917" cy="82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5000"/>
              </a:lnSpc>
              <a:buNone/>
            </a:pPr>
            <a:r>
              <a:rPr lang="en-US" sz="7200" kern="0" spc="-180" dirty="0">
                <a:solidFill>
                  <a:srgbClr val="000000"/>
                </a:solidFill>
                <a:latin typeface="Alfa Slab One" pitchFamily="34" charset="0"/>
                <a:ea typeface="Alfa Slab One" pitchFamily="34" charset="-122"/>
                <a:cs typeface="Alfa Slab One" pitchFamily="34" charset="-120"/>
              </a:rPr>
              <a:t>4,489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4444889" y="3414514"/>
            <a:ext cx="3530512" cy="1885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kern="0" spc="77" dirty="0">
                <a:solidFill>
                  <a:srgbClr val="000000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SUSPICIOUS TRANSACTIONS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44889" y="3736380"/>
            <a:ext cx="3301917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$22.2M, or 10.6% of total transaction value.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03995" y="2366169"/>
            <a:ext cx="3530512" cy="82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5000"/>
              </a:lnSpc>
              <a:buNone/>
            </a:pPr>
            <a:r>
              <a:rPr lang="en-US" sz="7200" kern="0" spc="-180" dirty="0">
                <a:solidFill>
                  <a:srgbClr val="151A17"/>
                </a:solidFill>
                <a:latin typeface="Alfa Slab One" pitchFamily="34" charset="0"/>
                <a:ea typeface="Alfa Slab One" pitchFamily="34" charset="-122"/>
                <a:cs typeface="Alfa Slab One" pitchFamily="34" charset="-120"/>
              </a:rPr>
              <a:t>60.9%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8203995" y="3414514"/>
            <a:ext cx="3530512" cy="1885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kern="0" spc="77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HIGH-RISK RATE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03995" y="3736380"/>
            <a:ext cx="3530512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1218 High risk clients with 78.2% of transactions value..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189" y="4867870"/>
            <a:ext cx="11089303" cy="342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900" dirty="0">
                <a:solidFill>
                  <a:srgbClr val="28302C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Monitoring risk is material, but concentrated enough to support risk-based prioritization.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209945" y="2086769"/>
            <a:ext cx="12700" cy="2444552"/>
          </a:xfrm>
          <a:prstGeom prst="rect">
            <a:avLst/>
          </a:prstGeom>
          <a:solidFill>
            <a:srgbClr val="315B88"/>
          </a:solidFill>
          <a:ln/>
        </p:spPr>
      </p:sp>
      <p:sp>
        <p:nvSpPr>
          <p:cNvPr id="16" name="Shape 14"/>
          <p:cNvSpPr/>
          <p:nvPr/>
        </p:nvSpPr>
        <p:spPr>
          <a:xfrm>
            <a:off x="7969051" y="2086769"/>
            <a:ext cx="12700" cy="2444552"/>
          </a:xfrm>
          <a:prstGeom prst="rect">
            <a:avLst/>
          </a:prstGeom>
          <a:solidFill>
            <a:srgbClr val="315B88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18" name="Text 16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0" spc="140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CLIENT RISK SEGMENTATION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189" y="892175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High-risk clients carry most of the book and the highest alert rate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86769"/>
            <a:ext cx="5867253" cy="2921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96810" y="2626320"/>
            <a:ext cx="1571784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300" kern="0" spc="91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HIGH RISK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796810" y="2982516"/>
            <a:ext cx="1343190" cy="1485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1,218 clients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· $159.7M value </a:t>
            </a:r>
            <a:endParaRPr lang="en-US" sz="15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11.60% suspicious rate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7189" y="2626320"/>
            <a:ext cx="1491419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kern="0" spc="77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M</a:t>
            </a:r>
            <a:r>
              <a:rPr lang="en-US" sz="1300" kern="0" spc="77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EDIUM RIS</a:t>
            </a:r>
            <a:r>
              <a:rPr lang="en-US" sz="1100" kern="0" spc="77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597189" y="2982516"/>
            <a:ext cx="1262825" cy="1485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634 clients · $43.9M value</a:t>
            </a:r>
            <a:endParaRPr lang="en-US" sz="15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4.99% suspicious rate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317202" y="2626320"/>
            <a:ext cx="1417304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300" kern="0" spc="91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LOW RISK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317202" y="2982516"/>
            <a:ext cx="1417304" cy="1485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148 clients · $6.2M value</a:t>
            </a:r>
            <a:endParaRPr lang="en-US" sz="15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1.53% suspicious   rate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189" y="5210969"/>
            <a:ext cx="11277318" cy="68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900" dirty="0">
                <a:solidFill>
                  <a:srgbClr val="28302C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The step-down from High to Medium to Low suggests the composite rating is directionally aligned with observed activity.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8362245" y="2626320"/>
            <a:ext cx="12700" cy="1841897"/>
          </a:xfrm>
          <a:prstGeom prst="rect">
            <a:avLst/>
          </a:prstGeom>
          <a:solidFill>
            <a:srgbClr val="315B88"/>
          </a:solidFill>
          <a:ln/>
        </p:spPr>
      </p:sp>
      <p:sp>
        <p:nvSpPr>
          <p:cNvPr id="13" name="Shape 10"/>
          <p:cNvSpPr/>
          <p:nvPr/>
        </p:nvSpPr>
        <p:spPr>
          <a:xfrm>
            <a:off x="10082258" y="2626320"/>
            <a:ext cx="12700" cy="1841897"/>
          </a:xfrm>
          <a:prstGeom prst="rect">
            <a:avLst/>
          </a:prstGeom>
          <a:solidFill>
            <a:srgbClr val="315B88"/>
          </a:solidFill>
          <a:ln/>
        </p:spPr>
      </p:sp>
      <p:sp>
        <p:nvSpPr>
          <p:cNvPr id="14" name="Shape 11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0" spc="140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STATIC RISK INDICATORS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189" y="892175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Static risk stacks around sanctions, country exposure, and opaque ownership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308069"/>
              </p:ext>
            </p:extLst>
          </p:nvPr>
        </p:nvGraphicFramePr>
        <p:xfrm>
          <a:off x="457188" y="2086769"/>
          <a:ext cx="5088204" cy="4397619"/>
        </p:xfrm>
        <a:graphic>
          <a:graphicData uri="http://schemas.openxmlformats.org/drawingml/2006/table">
            <a:tbl>
              <a:tblPr/>
              <a:tblGrid>
                <a:gridCol w="1272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2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0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3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51A17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Indicator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51A17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Flagged clients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51A17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Rate of client base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3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OFAC country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601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30.05%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49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Sectoral sanctions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575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28.75%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3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FATF country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179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8.95%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49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Ownership opacity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120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6.00%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05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PEP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114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5.70%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6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Sanctions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55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2.75%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F7F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7528233" y="2319734"/>
            <a:ext cx="4206274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300" kern="0" spc="91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PRIORITY LENS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528233" y="2634655"/>
            <a:ext cx="4206274" cy="726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600" kern="0" spc="-39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Stacked flags deserve the first review pass.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528233" y="3522861"/>
            <a:ext cx="4206274" cy="2159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Energy/Oil and Defence/Arms recur among clients with four or more static indicators.</a:t>
            </a:r>
            <a:endParaRPr lang="en-US" sz="1500" dirty="0"/>
          </a:p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Validate beneficial ownership and sanctions exposure before escalation.</a:t>
            </a:r>
            <a:endParaRPr lang="en-US" sz="15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PEP signal: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$6,365 average transaction versus $4,063 for non-PEPs; suspicious rates of 10.81% versus 8.87%.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9466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9" name="Text 6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0" spc="140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SECTOR ANALYSIS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189" y="892175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Energy/Oil and Defence/Arms lead sector risk, while Tech is a quiet outlier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86769"/>
            <a:ext cx="5778355" cy="35324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3589" y="2309813"/>
            <a:ext cx="501091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kern="0" spc="105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IMPORTANT HIGHLIGHT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723589" y="2659063"/>
            <a:ext cx="5010918" cy="1089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600" kern="0" spc="-39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Tech is Low risk by classification, but not quiet in observed alerts.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723589" y="3910409"/>
            <a:ext cx="5010918" cy="1485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Rapid movement leads every sector. Energy/Oil and Defense/Arms also lead in absolute OFAC and FATF activity.</a:t>
            </a:r>
            <a:endParaRPr lang="en-US" sz="15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Review Tech for sanctions-driven exposure rather than screening it out by baseline label.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9" name="Text 6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4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00" kern="0" spc="126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COUNTRY</a:t>
            </a:r>
            <a:r>
              <a:rPr lang="en-US" sz="1900" kern="0" spc="126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 </a:t>
            </a:r>
            <a:r>
              <a:rPr lang="en-US" sz="2000" kern="0" spc="126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ANALYSIS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189" y="894060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Country risk is concentrated in a small set of flagged populations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88654"/>
            <a:ext cx="5714857" cy="330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1677" y="2196505"/>
            <a:ext cx="488282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kern="0" spc="105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CONCENTRATED FLAGS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1677" y="2545755"/>
            <a:ext cx="4882829" cy="1089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600" kern="0" spc="-39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Country indicators are powerful prioritization signals—not conclusions.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851677" y="3797102"/>
            <a:ext cx="4882829" cy="1485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All 108 Venezuela clients are OFAC-flagged. All North Korea clients are both FATF- and OFAC-flagged. All 95 Iran clients carry both flags.</a:t>
            </a:r>
            <a:endParaRPr lang="en-US" sz="15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Apply enhanced KYC and sanctions screening first, then validate individual list matches.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9" name="Text 6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0" spc="140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CROSS-COUNTRY ANALYSIS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189" y="892175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Corridors reveal sharper concentration than country averages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189" y="2086769"/>
          <a:ext cx="6418895" cy="3407106"/>
        </p:xfrm>
        <a:graphic>
          <a:graphicData uri="http://schemas.openxmlformats.org/drawingml/2006/table">
            <a:tbl>
              <a:tblPr/>
              <a:tblGrid>
                <a:gridCol w="1155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37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50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7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74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967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51A17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Client country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51A17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Counterparty country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51A17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Transactions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51A17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Total value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51A17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Suspicious rate (%)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2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SY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RU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36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$117,597.10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100%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2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VE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IR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34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$196,536.79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100%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2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VE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RU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34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$116,108.41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100%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2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SY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SY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32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$127,055.64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100%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2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VE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SY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31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$100,343.96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100%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8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VE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VE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27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$195,768.00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8302C"/>
                          </a:solidFill>
                          <a:latin typeface="Roboto Slab" pitchFamily="34" charset="0"/>
                          <a:ea typeface="Roboto Slab" pitchFamily="34" charset="-122"/>
                          <a:cs typeface="Roboto Slab" pitchFamily="34" charset="-120"/>
                        </a:rPr>
                        <a:t>100%</a:t>
                      </a:r>
                      <a:endParaRPr lang="en-US" sz="1500" dirty="0">
                        <a:latin typeface="Roboto Slab" charset="0"/>
                        <a:ea typeface="Roboto Slab" charset="0"/>
                        <a:cs typeface="Roboto Slab" charset="0"/>
                      </a:endParaRPr>
                    </a:p>
                  </a:txBody>
                  <a:tcPr marL="142871" marR="142871" marT="76198" marB="76198" anchor="ctr">
                    <a:lnL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A0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180777" y="2086769"/>
            <a:ext cx="4553729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0" spc="126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PORTFOLIO CONTEXT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180777" y="2487414"/>
            <a:ext cx="4553729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5000"/>
              </a:lnSpc>
              <a:buNone/>
            </a:pPr>
            <a:r>
              <a:rPr lang="en-US" sz="4000" kern="0" spc="-100" dirty="0">
                <a:solidFill>
                  <a:srgbClr val="151A17"/>
                </a:solidFill>
                <a:latin typeface="Alfa Slab One" pitchFamily="34" charset="0"/>
                <a:ea typeface="Alfa Slab One" pitchFamily="34" charset="-122"/>
                <a:cs typeface="Alfa Slab One" pitchFamily="34" charset="-120"/>
              </a:rPr>
              <a:t>10.00%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180777" y="3170039"/>
            <a:ext cx="4553729" cy="270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Domestic suspicious rate across 2,419 records.</a:t>
            </a:r>
            <a:endParaRPr lang="en-US" sz="1500" dirty="0"/>
          </a:p>
        </p:txBody>
      </p:sp>
      <p:sp>
        <p:nvSpPr>
          <p:cNvPr id="4" name="Text 5"/>
          <p:cNvSpPr/>
          <p:nvPr/>
        </p:nvSpPr>
        <p:spPr>
          <a:xfrm>
            <a:off x="7180777" y="3643709"/>
            <a:ext cx="4553729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5000"/>
              </a:lnSpc>
              <a:buNone/>
            </a:pPr>
            <a:r>
              <a:rPr lang="en-US" sz="4000" kern="0" spc="-100" dirty="0">
                <a:solidFill>
                  <a:srgbClr val="151A17"/>
                </a:solidFill>
                <a:latin typeface="Alfa Slab One" pitchFamily="34" charset="0"/>
                <a:ea typeface="Alfa Slab One" pitchFamily="34" charset="-122"/>
                <a:cs typeface="Alfa Slab One" pitchFamily="34" charset="-120"/>
              </a:rPr>
              <a:t>8.93%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180777" y="4326334"/>
            <a:ext cx="4553729" cy="270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Cross-border suspicious rate across 47,581 records.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180777" y="4730155"/>
            <a:ext cx="4553729" cy="811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Validate whether country-risk flags are driving the 100% corridor rates before escalating as confirmed illicit activity.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12" name="Text 9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0" spc="140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TREND ANALYSIS · JUL–SEP 2025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189" y="892175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Suspicious rates eased modestly as volume stayed elevated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86769"/>
            <a:ext cx="5778355" cy="31766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41845" y="2571948"/>
            <a:ext cx="166415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kern="0" spc="105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JULY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741845" y="2962473"/>
            <a:ext cx="1435560" cy="1352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16,141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-transactions · 1,483 -suspicious 9.19% - rate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34593" y="2571948"/>
            <a:ext cx="14356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kern="0" spc="105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AUGUST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34593" y="2962473"/>
            <a:ext cx="1207065" cy="1352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17,260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-transactions 1,520-suspicious 8.81%-rate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298847" y="2571948"/>
            <a:ext cx="143556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kern="0" spc="105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SEPTEMBER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298847" y="2962473"/>
            <a:ext cx="1435560" cy="1352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16,599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-transactions · 1,486-suspicious · 8.95%-rate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741845" y="4448175"/>
            <a:ext cx="4992662" cy="811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500" dirty="0">
                <a:solidFill>
                  <a:srgbClr val="28302C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Absolute suspicious counts remain high. The data alone cannot determine whether the rate dip reflects improved monitoring or a changing activity mix.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99649" y="2571948"/>
            <a:ext cx="12700" cy="1742877"/>
          </a:xfrm>
          <a:prstGeom prst="rect">
            <a:avLst/>
          </a:prstGeom>
          <a:solidFill>
            <a:srgbClr val="315B88"/>
          </a:solidFill>
          <a:ln/>
        </p:spPr>
      </p:sp>
      <p:sp>
        <p:nvSpPr>
          <p:cNvPr id="13" name="Shape 10"/>
          <p:cNvSpPr/>
          <p:nvPr/>
        </p:nvSpPr>
        <p:spPr>
          <a:xfrm>
            <a:off x="10063903" y="2571948"/>
            <a:ext cx="12700" cy="1742877"/>
          </a:xfrm>
          <a:prstGeom prst="rect">
            <a:avLst/>
          </a:prstGeom>
          <a:solidFill>
            <a:srgbClr val="315B88"/>
          </a:solidFill>
          <a:ln/>
        </p:spPr>
      </p:sp>
      <p:sp>
        <p:nvSpPr>
          <p:cNvPr id="14" name="Shape 11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0" spc="140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TRANSACTION PATTERN ANALYSIS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189" y="892175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The strongest behavioural signal sits in the $5K–$9.9K band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86769"/>
            <a:ext cx="5778355" cy="31766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894043" y="2317452"/>
            <a:ext cx="3840463" cy="3631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600" kern="0" spc="-39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Highest rate: $5K–$9.9K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894043" y="2842518"/>
            <a:ext cx="3840463" cy="3104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15.43% suspicious across 4,304 transactions.</a:t>
            </a:r>
            <a:endParaRPr lang="en-US" sz="1500" dirty="0"/>
          </a:p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Highest volume: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$1K–$4.9K with 24,268 transactions and 1,961 suspicious transactions.</a:t>
            </a:r>
            <a:endParaRPr lang="en-US" sz="1500" dirty="0"/>
          </a:p>
          <a:p>
            <a:pPr marL="0" indent="0" algn="l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Three transactions clustered just below $10,000 should trigger review—not be treated as proof of structuring.</a:t>
            </a:r>
            <a:endParaRPr lang="en-US" sz="15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Outlier: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z-score 6.18; $154.9K transaction versus a $7.1K client average.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8" name="Text 5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0" spc="140" dirty="0">
                <a:solidFill>
                  <a:srgbClr val="315B88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ALERT DRIVERS · INVESTIGATION PRIORITIES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189" y="892175"/>
            <a:ext cx="11277318" cy="9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600" kern="0" spc="-54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Monitoring workload is concentrated in two rules, with complementary coverage underneath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86769"/>
            <a:ext cx="6476838" cy="2540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189" y="4718844"/>
            <a:ext cx="6583495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kern="0" spc="30" dirty="0">
                <a:solidFill>
                  <a:srgbClr val="66706A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Triggered rates: Rapid movement 4.92% · OFAC match 3.58% · FATF country 1.20% · Structuring 0.69% · Trade mispricing 0.02%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45377" y="2086769"/>
            <a:ext cx="4389129" cy="1089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600" kern="0" spc="-39" dirty="0">
                <a:solidFill>
                  <a:srgbClr val="151A17"/>
                </a:solidFill>
                <a:latin typeface="Roboto Slab SemiBold" pitchFamily="34" charset="0"/>
                <a:ea typeface="Roboto Slab SemiBold" pitchFamily="34" charset="-122"/>
                <a:cs typeface="Roboto Slab SemiBold" pitchFamily="34" charset="-120"/>
              </a:rPr>
              <a:t>Prioritize dominant queues; retain smaller rules for coverage.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45377" y="3338116"/>
            <a:ext cx="4389129" cy="2548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04800" indent="-304800" algn="l">
              <a:lnSpc>
                <a:spcPct val="118000"/>
              </a:lnSpc>
              <a:buSzPct val="100000"/>
              <a:buFont typeface="+mj-lt"/>
              <a:buAutoNum type="arabicPeriod"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Triage: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Review rapid movement and OFAC alongside stacked country and ownership flags.</a:t>
            </a:r>
            <a:endParaRPr lang="en-US" sz="1500" dirty="0"/>
          </a:p>
          <a:p>
            <a:pPr marL="304800" indent="-304800" algn="l">
              <a:lnSpc>
                <a:spcPct val="118000"/>
              </a:lnSpc>
              <a:buSzPct val="100000"/>
              <a:buFont typeface="+mj-lt"/>
              <a:buAutoNum type="arabicPeriod" startAt="2"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Validate: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Check list matches, beneficial ownership, and corridor context before escalation.</a:t>
            </a:r>
            <a:endParaRPr lang="en-US" sz="1500" dirty="0"/>
          </a:p>
          <a:p>
            <a:pPr marL="304800" indent="-304800" algn="l">
              <a:lnSpc>
                <a:spcPct val="118000"/>
              </a:lnSpc>
              <a:buSzPct val="100000"/>
              <a:buFont typeface="+mj-lt"/>
              <a:buAutoNum type="arabicPeriod" startAt="3"/>
            </a:pPr>
            <a:r>
              <a:rPr lang="en-US" sz="1500" b="1" dirty="0">
                <a:solidFill>
                  <a:srgbClr val="28302C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Preserve coverage:</a:t>
            </a:r>
            <a:r>
              <a:rPr lang="en-US" sz="1500" dirty="0">
                <a:solidFill>
                  <a:srgbClr val="28302C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Keep structuring and trade-mispricing active as complementary signals.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89" y="6089848"/>
            <a:ext cx="1127731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kern="0" spc="30" dirty="0">
                <a:solidFill>
                  <a:srgbClr val="66706A"/>
                </a:solidFill>
                <a:latin typeface="DM Mono Medium" pitchFamily="34" charset="0"/>
                <a:ea typeface="DM Mono Medium" pitchFamily="34" charset="-122"/>
                <a:cs typeface="DM Mono Medium" pitchFamily="34" charset="-120"/>
              </a:rPr>
              <a:t>Co-occurrence: 11 of 347 structuring alerts also fire rapid movement (3.2% overlap). Treat alerts as investigation leads, not proof of illicit activity.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6851650"/>
            <a:ext cx="12191695" cy="6350"/>
          </a:xfrm>
          <a:prstGeom prst="rect">
            <a:avLst/>
          </a:prstGeom>
          <a:solidFill>
            <a:srgbClr val="C4572B"/>
          </a:solidFill>
          <a:ln/>
        </p:spPr>
      </p:sp>
      <p:sp>
        <p:nvSpPr>
          <p:cNvPr id="10" name="Text 7"/>
          <p:cNvSpPr/>
          <p:nvPr/>
        </p:nvSpPr>
        <p:spPr>
          <a:xfrm>
            <a:off x="457189" y="6532265"/>
            <a:ext cx="1814269" cy="137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kern="0" spc="18" dirty="0">
                <a:solidFill>
                  <a:srgbClr val="66706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Pace is a choice.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816</Words>
  <Application>Microsoft Office PowerPoint</Application>
  <PresentationFormat>Widescreen</PresentationFormat>
  <Paragraphs>155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Alfa Slab One</vt:lpstr>
      <vt:lpstr>Calibri</vt:lpstr>
      <vt:lpstr>Roboto Slab Bold</vt:lpstr>
      <vt:lpstr>DM Mono Medium</vt:lpstr>
      <vt:lpstr>DM Mono</vt:lpstr>
      <vt:lpstr>Roboto Slab SemiBold</vt:lpstr>
      <vt:lpstr>Arial</vt:lpstr>
      <vt:lpstr>Roboto Slab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Shwetha</dc:creator>
  <cp:lastModifiedBy>shwethag88@gmail.com</cp:lastModifiedBy>
  <cp:revision>2</cp:revision>
  <dcterms:created xsi:type="dcterms:W3CDTF">2026-09-30T08:11:38Z</dcterms:created>
  <dcterms:modified xsi:type="dcterms:W3CDTF">2026-09-30T10:32:49Z</dcterms:modified>
</cp:coreProperties>
</file>